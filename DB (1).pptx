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2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6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0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4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6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5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8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6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0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363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5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4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2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873A9A-7E18-47E4-8DB9-7DC8ED8B0A7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02D9251-4CC0-49DC-9209-F61C43B26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0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SfC1LHnourozUQZdVeOvd1eFaKZ-j73z?hl=ar" TargetMode="External"/><Relationship Id="rId2" Type="http://schemas.openxmlformats.org/officeDocument/2006/relationships/hyperlink" Target="https://github.com/HibaMeneh/HajiiCompanySystem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drive/folders/1ctKbE_jBrty-wuRPUunhvnDcrDKsRlEY?hl=ar" TargetMode="External"/><Relationship Id="rId4" Type="http://schemas.openxmlformats.org/officeDocument/2006/relationships/hyperlink" Target="https://drive.google.com/drive/folders/18duxPOWe-xY3yPafysyipHD4weGxBhdY?hl=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D29C57-A18A-CB37-0D20-B6A1A5C873AB}"/>
              </a:ext>
            </a:extLst>
          </p:cNvPr>
          <p:cNvSpPr txBox="1"/>
          <p:nvPr/>
        </p:nvSpPr>
        <p:spPr>
          <a:xfrm>
            <a:off x="85161" y="457200"/>
            <a:ext cx="120216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Al-Usra Hajj and Umrah Company Management System</a:t>
            </a:r>
            <a:endParaRPr lang="ar-SA" sz="2800" b="1" dirty="0"/>
          </a:p>
          <a:p>
            <a:pPr algn="ctr">
              <a:buNone/>
            </a:pPr>
            <a:br>
              <a:rPr lang="en-US" sz="2800" b="1" dirty="0"/>
            </a:br>
            <a:r>
              <a:rPr lang="en-US" sz="2800" b="1" dirty="0"/>
              <a:t>Database Project Presentation</a:t>
            </a:r>
            <a:endParaRPr lang="ar-SA" sz="2800" b="1" dirty="0"/>
          </a:p>
          <a:p>
            <a:pPr algn="ctr">
              <a:buNone/>
            </a:pPr>
            <a:endParaRPr lang="en-US" sz="2800" b="1" dirty="0"/>
          </a:p>
          <a:p>
            <a:pPr algn="ctr">
              <a:buNone/>
            </a:pPr>
            <a:r>
              <a:rPr lang="en-US" sz="2800" b="1" dirty="0"/>
              <a:t>Prepared by:</a:t>
            </a:r>
            <a:br>
              <a:rPr lang="en-US" sz="2800" b="1" dirty="0"/>
            </a:br>
            <a:r>
              <a:rPr lang="en-US" sz="2800" b="1" dirty="0"/>
              <a:t>Mohammed Jaber</a:t>
            </a:r>
            <a:r>
              <a:rPr lang="ar-SA" sz="2800" b="1" dirty="0"/>
              <a:t> </a:t>
            </a:r>
            <a:r>
              <a:rPr lang="en-US" sz="2800" b="1" dirty="0"/>
              <a:t>&amp; Hiba Bani Meneh </a:t>
            </a:r>
            <a:endParaRPr lang="ar-SA" sz="2800" b="1" dirty="0"/>
          </a:p>
          <a:p>
            <a:pPr algn="ctr">
              <a:buNone/>
            </a:pPr>
            <a:endParaRPr lang="en-US" sz="2800" b="1" dirty="0"/>
          </a:p>
          <a:p>
            <a:pPr algn="ctr">
              <a:buNone/>
            </a:pPr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5CE76-4FD0-7CE8-DCD2-2FC6626C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64" y="3348230"/>
            <a:ext cx="3008667" cy="280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1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A922A1-8041-0F48-D32C-43089D17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07" y="3910705"/>
            <a:ext cx="4301172" cy="2533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53D11-1595-B7C2-F887-7A4DE5536F7C}"/>
              </a:ext>
            </a:extLst>
          </p:cNvPr>
          <p:cNvSpPr txBox="1"/>
          <p:nvPr/>
        </p:nvSpPr>
        <p:spPr>
          <a:xfrm>
            <a:off x="394446" y="413983"/>
            <a:ext cx="614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Overview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F7998-F77C-1FC3-0ED2-CDE84D7CE56B}"/>
              </a:ext>
            </a:extLst>
          </p:cNvPr>
          <p:cNvSpPr txBox="1"/>
          <p:nvPr/>
        </p:nvSpPr>
        <p:spPr>
          <a:xfrm>
            <a:off x="394446" y="1020686"/>
            <a:ext cx="119051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Al-Usra Hajj and Umrah Company Management System is a desktop application designed to manage the main operations of a Hajj and Umrah company.</a:t>
            </a:r>
          </a:p>
          <a:p>
            <a:endParaRPr lang="en-US" sz="2000" dirty="0"/>
          </a:p>
          <a:p>
            <a:r>
              <a:rPr lang="en-US" sz="2000" dirty="0"/>
              <a:t>The system organizes data related to users, employees, Hajj applicants, campaigns, packages, bookings, hotels, transportation, tasks, and messages.</a:t>
            </a:r>
          </a:p>
          <a:p>
            <a:endParaRPr lang="en-US" sz="2000" dirty="0"/>
          </a:p>
          <a:p>
            <a:r>
              <a:rPr lang="en-US" sz="2000" dirty="0"/>
              <a:t>It uses Java Swing for the graphical user interface and MySQL for database management.</a:t>
            </a:r>
          </a:p>
        </p:txBody>
      </p:sp>
    </p:spTree>
    <p:extLst>
      <p:ext uri="{BB962C8B-B14F-4D97-AF65-F5344CB8AC3E}">
        <p14:creationId xmlns:p14="http://schemas.microsoft.com/office/powerpoint/2010/main" val="174416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7EA81-FEFE-0015-95E6-F34FBD9E70CF}"/>
              </a:ext>
            </a:extLst>
          </p:cNvPr>
          <p:cNvSpPr txBox="1"/>
          <p:nvPr/>
        </p:nvSpPr>
        <p:spPr>
          <a:xfrm>
            <a:off x="291352" y="1495815"/>
            <a:ext cx="117751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Hajj and Umrah companies manage many types of data such as customers, employees, bookings, hotels, transportation, packages, tasks, and messages.</a:t>
            </a:r>
          </a:p>
          <a:p>
            <a:endParaRPr lang="en-US" sz="2400" dirty="0"/>
          </a:p>
          <a:p>
            <a:r>
              <a:rPr lang="en-US" sz="2400" dirty="0"/>
              <a:t>Managing this data manually can cause several problems:</a:t>
            </a:r>
          </a:p>
          <a:p>
            <a:r>
              <a:rPr lang="en-US" sz="2400" dirty="0"/>
              <a:t>- Data duplication</a:t>
            </a:r>
          </a:p>
          <a:p>
            <a:r>
              <a:rPr lang="en-US" sz="2400" dirty="0"/>
              <a:t>- Missing or incorrect records</a:t>
            </a:r>
          </a:p>
          <a:p>
            <a:r>
              <a:rPr lang="en-US" sz="2400" dirty="0"/>
              <a:t>- Slow searching and updating</a:t>
            </a:r>
          </a:p>
          <a:p>
            <a:r>
              <a:rPr lang="en-US" sz="2400" dirty="0"/>
              <a:t>- Difficulty tracking customer services</a:t>
            </a:r>
          </a:p>
          <a:p>
            <a:r>
              <a:rPr lang="en-US" sz="2400" dirty="0"/>
              <a:t>- Lack of access control between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FF8B1-DC5E-230D-B7AF-8F79CA6F675B}"/>
              </a:ext>
            </a:extLst>
          </p:cNvPr>
          <p:cNvSpPr txBox="1"/>
          <p:nvPr/>
        </p:nvSpPr>
        <p:spPr>
          <a:xfrm>
            <a:off x="291352" y="839462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Problem Statement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5559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14DF3-C640-2DD0-0045-34B1E58B5DE7}"/>
              </a:ext>
            </a:extLst>
          </p:cNvPr>
          <p:cNvSpPr txBox="1"/>
          <p:nvPr/>
        </p:nvSpPr>
        <p:spPr>
          <a:xfrm>
            <a:off x="116541" y="409186"/>
            <a:ext cx="119589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main objectives of this project are:</a:t>
            </a:r>
          </a:p>
          <a:p>
            <a:endParaRPr lang="en-US" sz="2000" dirty="0"/>
          </a:p>
          <a:p>
            <a:r>
              <a:rPr lang="en-US" sz="2000" dirty="0"/>
              <a:t>- To design a database system for a Hajj and Umrah company</a:t>
            </a:r>
          </a:p>
          <a:p>
            <a:r>
              <a:rPr lang="en-US" sz="2000" dirty="0"/>
              <a:t>- To organize company data in a structured MySQL database</a:t>
            </a:r>
          </a:p>
          <a:p>
            <a:r>
              <a:rPr lang="en-US" sz="2000" dirty="0"/>
              <a:t>- To create user-friendly Java Swing interfaces</a:t>
            </a:r>
          </a:p>
          <a:p>
            <a:r>
              <a:rPr lang="en-US" sz="2000" dirty="0"/>
              <a:t>- To provide role-based access for Manager, Employee, and Customer</a:t>
            </a:r>
          </a:p>
          <a:p>
            <a:r>
              <a:rPr lang="en-US" sz="2000" dirty="0"/>
              <a:t>- To support CRUD operations: Add, View, Update, and Delete</a:t>
            </a:r>
          </a:p>
          <a:p>
            <a:r>
              <a:rPr lang="en-US" sz="2000" dirty="0"/>
              <a:t>- To connect the Java application with the MySQL database using JDBC</a:t>
            </a:r>
          </a:p>
        </p:txBody>
      </p:sp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F38817F4-8BAB-3111-798B-FDF304AA6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986" y="2891299"/>
            <a:ext cx="1075402" cy="1075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E20C34-66BD-7E40-2876-97A6BC4A7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3" y="4289941"/>
            <a:ext cx="813407" cy="891659"/>
          </a:xfrm>
          <a:prstGeom prst="rect">
            <a:avLst/>
          </a:prstGeom>
        </p:spPr>
      </p:pic>
      <p:pic>
        <p:nvPicPr>
          <p:cNvPr id="9" name="Graphic 8" descr="Users">
            <a:extLst>
              <a:ext uri="{FF2B5EF4-FFF2-40B4-BE49-F238E27FC236}">
                <a16:creationId xmlns:a16="http://schemas.microsoft.com/office/drawing/2014/main" id="{B1A7BA2F-0FCA-A713-C8D7-61742E847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02" y="5537198"/>
            <a:ext cx="1075402" cy="1075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228336-ADFF-BA7A-7FA2-BAD6B0912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456" y="5514274"/>
            <a:ext cx="874084" cy="927444"/>
          </a:xfrm>
          <a:prstGeom prst="rect">
            <a:avLst/>
          </a:prstGeom>
        </p:spPr>
      </p:pic>
      <p:pic>
        <p:nvPicPr>
          <p:cNvPr id="13" name="Graphic 12" descr="Lock">
            <a:extLst>
              <a:ext uri="{FF2B5EF4-FFF2-40B4-BE49-F238E27FC236}">
                <a16:creationId xmlns:a16="http://schemas.microsoft.com/office/drawing/2014/main" id="{F017C2A2-3715-76C3-60BA-D5E7BDE5D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5560" y="5409678"/>
            <a:ext cx="1075401" cy="1075401"/>
          </a:xfrm>
          <a:prstGeom prst="rect">
            <a:avLst/>
          </a:prstGeom>
        </p:spPr>
      </p:pic>
      <p:pic>
        <p:nvPicPr>
          <p:cNvPr id="15" name="Graphic 14" descr="Table">
            <a:extLst>
              <a:ext uri="{FF2B5EF4-FFF2-40B4-BE49-F238E27FC236}">
                <a16:creationId xmlns:a16="http://schemas.microsoft.com/office/drawing/2014/main" id="{B731269B-935F-5378-7985-D598072CA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7903" y="4149960"/>
            <a:ext cx="1296194" cy="12961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585CFC-C0C5-1AC5-595E-18F5C08DA5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709" y="5528444"/>
            <a:ext cx="776003" cy="913274"/>
          </a:xfrm>
          <a:prstGeom prst="rect">
            <a:avLst/>
          </a:prstGeom>
        </p:spPr>
      </p:pic>
      <p:pic>
        <p:nvPicPr>
          <p:cNvPr id="19" name="Graphic 18" descr="Syncing cloud">
            <a:extLst>
              <a:ext uri="{FF2B5EF4-FFF2-40B4-BE49-F238E27FC236}">
                <a16:creationId xmlns:a16="http://schemas.microsoft.com/office/drawing/2014/main" id="{8936BE69-582D-4D86-4A1E-AB2ED8CA0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1366" y="2980692"/>
            <a:ext cx="1169268" cy="11692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E181256-677C-070E-1E35-6D6FC8775FE1}"/>
              </a:ext>
            </a:extLst>
          </p:cNvPr>
          <p:cNvSpPr txBox="1"/>
          <p:nvPr/>
        </p:nvSpPr>
        <p:spPr>
          <a:xfrm>
            <a:off x="1389529" y="3472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organize company data in MySQL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DBF4C-B984-B848-FA4E-C50BD766B7D9}"/>
              </a:ext>
            </a:extLst>
          </p:cNvPr>
          <p:cNvSpPr txBox="1"/>
          <p:nvPr/>
        </p:nvSpPr>
        <p:spPr>
          <a:xfrm>
            <a:off x="1389529" y="46596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create Java Swing interfaces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AE9-75E9-9A15-E14B-E71063295AEF}"/>
              </a:ext>
            </a:extLst>
          </p:cNvPr>
          <p:cNvSpPr txBox="1"/>
          <p:nvPr/>
        </p:nvSpPr>
        <p:spPr>
          <a:xfrm>
            <a:off x="1425388" y="60483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Role-based access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66D38E-FDBC-0BC5-9328-12F92C7A24BA}"/>
              </a:ext>
            </a:extLst>
          </p:cNvPr>
          <p:cNvSpPr txBox="1"/>
          <p:nvPr/>
        </p:nvSpPr>
        <p:spPr>
          <a:xfrm>
            <a:off x="6807560" y="4626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Add, View, Update, Delete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1C7020-DD32-288A-0802-DF88C89B1AA5}"/>
              </a:ext>
            </a:extLst>
          </p:cNvPr>
          <p:cNvSpPr txBox="1"/>
          <p:nvPr/>
        </p:nvSpPr>
        <p:spPr>
          <a:xfrm>
            <a:off x="6779955" y="3552988"/>
            <a:ext cx="4763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JDBC connection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B426D4-0824-2855-AE16-3AAF1EADE0F6}"/>
              </a:ext>
            </a:extLst>
          </p:cNvPr>
          <p:cNvSpPr txBox="1"/>
          <p:nvPr/>
        </p:nvSpPr>
        <p:spPr>
          <a:xfrm>
            <a:off x="1389529" y="3108432"/>
            <a:ext cx="164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icon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69B2F-83A5-A9EB-3C6D-B605B86D027C}"/>
              </a:ext>
            </a:extLst>
          </p:cNvPr>
          <p:cNvSpPr txBox="1"/>
          <p:nvPr/>
        </p:nvSpPr>
        <p:spPr>
          <a:xfrm>
            <a:off x="1394011" y="4330568"/>
            <a:ext cx="129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</a:t>
            </a:r>
            <a:r>
              <a:rPr lang="ar-SA" dirty="0"/>
              <a:t> </a:t>
            </a:r>
            <a:r>
              <a:rPr lang="en-US" dirty="0"/>
              <a:t>icon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B59A41-AC61-075E-3407-40BB27D48170}"/>
              </a:ext>
            </a:extLst>
          </p:cNvPr>
          <p:cNvSpPr txBox="1"/>
          <p:nvPr/>
        </p:nvSpPr>
        <p:spPr>
          <a:xfrm>
            <a:off x="1425388" y="5662339"/>
            <a:ext cx="1687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Users icon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AF592-6FD4-3C6C-E09A-347417DC7AD8}"/>
              </a:ext>
            </a:extLst>
          </p:cNvPr>
          <p:cNvSpPr txBox="1"/>
          <p:nvPr/>
        </p:nvSpPr>
        <p:spPr>
          <a:xfrm>
            <a:off x="6807560" y="4331183"/>
            <a:ext cx="2222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Table/CRUD icon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B208CC-4613-022A-CB60-1D77C42E4D78}"/>
              </a:ext>
            </a:extLst>
          </p:cNvPr>
          <p:cNvSpPr txBox="1"/>
          <p:nvPr/>
        </p:nvSpPr>
        <p:spPr>
          <a:xfrm>
            <a:off x="6807560" y="3183656"/>
            <a:ext cx="27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Link/Server icon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982280-BB8E-9D42-5837-35C6628CDEF0}"/>
              </a:ext>
            </a:extLst>
          </p:cNvPr>
          <p:cNvSpPr txBox="1"/>
          <p:nvPr/>
        </p:nvSpPr>
        <p:spPr>
          <a:xfrm>
            <a:off x="5377703" y="6417701"/>
            <a:ext cx="1436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Login icon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B23608-BEB9-5B06-216B-F35F6873495B}"/>
              </a:ext>
            </a:extLst>
          </p:cNvPr>
          <p:cNvSpPr txBox="1"/>
          <p:nvPr/>
        </p:nvSpPr>
        <p:spPr>
          <a:xfrm>
            <a:off x="9753378" y="6417701"/>
            <a:ext cx="1607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Security icon</a:t>
            </a:r>
            <a:br>
              <a:rPr lang="en-US" dirty="0"/>
            </a:b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14FA94-5D40-62B6-B847-0C000478F532}"/>
              </a:ext>
            </a:extLst>
          </p:cNvPr>
          <p:cNvSpPr txBox="1"/>
          <p:nvPr/>
        </p:nvSpPr>
        <p:spPr>
          <a:xfrm>
            <a:off x="7799963" y="6485079"/>
            <a:ext cx="1293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icon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2E7BF-4BDE-26EF-A446-A5BEC2C4742E}"/>
              </a:ext>
            </a:extLst>
          </p:cNvPr>
          <p:cNvSpPr txBox="1"/>
          <p:nvPr/>
        </p:nvSpPr>
        <p:spPr>
          <a:xfrm>
            <a:off x="116541" y="46950"/>
            <a:ext cx="6451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Project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BA8410-CA5A-11D5-8A09-A66280BA0FC0}"/>
              </a:ext>
            </a:extLst>
          </p:cNvPr>
          <p:cNvSpPr txBox="1"/>
          <p:nvPr/>
        </p:nvSpPr>
        <p:spPr>
          <a:xfrm>
            <a:off x="143435" y="515077"/>
            <a:ext cx="113044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project was developed using the following tools:</a:t>
            </a:r>
          </a:p>
          <a:p>
            <a:endParaRPr lang="en-US" sz="2400" dirty="0"/>
          </a:p>
          <a:p>
            <a:r>
              <a:rPr lang="en-US" sz="2400" dirty="0"/>
              <a:t>- NetBeans: used to build the Java application and design the GUI</a:t>
            </a:r>
          </a:p>
          <a:p>
            <a:r>
              <a:rPr lang="en-US" sz="2400" dirty="0"/>
              <a:t>- Java Swing: used to create forms, buttons, tables, and panels</a:t>
            </a:r>
          </a:p>
          <a:p>
            <a:r>
              <a:rPr lang="en-US" sz="2400" dirty="0"/>
              <a:t>- MySQL: used to store and organize the database</a:t>
            </a:r>
          </a:p>
          <a:p>
            <a:r>
              <a:rPr lang="en-US" sz="2400" dirty="0"/>
              <a:t>- MySQL Workbench: used to create tables, relationships, and test SQL queries</a:t>
            </a:r>
          </a:p>
          <a:p>
            <a:r>
              <a:rPr lang="en-US" sz="2400" dirty="0"/>
              <a:t>- JDBC: used to connect the Java application with the MySQL database</a:t>
            </a:r>
          </a:p>
        </p:txBody>
      </p:sp>
      <p:pic>
        <p:nvPicPr>
          <p:cNvPr id="4" name="Graphic 3" descr="Database">
            <a:extLst>
              <a:ext uri="{FF2B5EF4-FFF2-40B4-BE49-F238E27FC236}">
                <a16:creationId xmlns:a16="http://schemas.microsoft.com/office/drawing/2014/main" id="{9DD10011-3A9A-E293-004A-DC152A355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3192733"/>
            <a:ext cx="1425388" cy="1425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8BDAF1-CE4B-7E0C-8BE9-B1E343D3A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18" y="3297750"/>
            <a:ext cx="1186588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5DB8F-438A-448E-AB4C-BFABEE1C9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712" y="3255056"/>
            <a:ext cx="1306300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DC53C-2E5A-CCCF-6498-6433E9960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059" y="3297749"/>
            <a:ext cx="2687380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34BEC-4470-CD83-8DF1-534E2C1FE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0355" y="3216867"/>
            <a:ext cx="1356387" cy="1300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BFFD03-28BC-91BE-AC8D-B4F04C67C2C0}"/>
              </a:ext>
            </a:extLst>
          </p:cNvPr>
          <p:cNvSpPr txBox="1"/>
          <p:nvPr/>
        </p:nvSpPr>
        <p:spPr>
          <a:xfrm>
            <a:off x="4425562" y="4714545"/>
            <a:ext cx="137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NetBeans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E8D15-E7A1-9F4A-AE6D-34DA00205514}"/>
              </a:ext>
            </a:extLst>
          </p:cNvPr>
          <p:cNvSpPr txBox="1"/>
          <p:nvPr/>
        </p:nvSpPr>
        <p:spPr>
          <a:xfrm>
            <a:off x="2399641" y="4714545"/>
            <a:ext cx="61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20DD5-5A8E-940F-DF1E-D5BAF9EE67A0}"/>
              </a:ext>
            </a:extLst>
          </p:cNvPr>
          <p:cNvSpPr txBox="1"/>
          <p:nvPr/>
        </p:nvSpPr>
        <p:spPr>
          <a:xfrm>
            <a:off x="143435" y="4714544"/>
            <a:ext cx="142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Database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05EFB9-DAE2-C752-B59A-59D994DE706E}"/>
              </a:ext>
            </a:extLst>
          </p:cNvPr>
          <p:cNvSpPr txBox="1"/>
          <p:nvPr/>
        </p:nvSpPr>
        <p:spPr>
          <a:xfrm>
            <a:off x="7566211" y="4714545"/>
            <a:ext cx="147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MySQL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B96E65-449E-4BC4-CDF7-4769A20C96D3}"/>
              </a:ext>
            </a:extLst>
          </p:cNvPr>
          <p:cNvSpPr txBox="1"/>
          <p:nvPr/>
        </p:nvSpPr>
        <p:spPr>
          <a:xfrm>
            <a:off x="10490355" y="4714545"/>
            <a:ext cx="147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Workbench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4C78E0-C159-6CCE-21DA-3D11E7A45ACD}"/>
              </a:ext>
            </a:extLst>
          </p:cNvPr>
          <p:cNvSpPr txBox="1"/>
          <p:nvPr/>
        </p:nvSpPr>
        <p:spPr>
          <a:xfrm>
            <a:off x="143435" y="13477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Tools and Technologies Used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224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97035B-CADA-D31D-B486-68240B5EE966}"/>
              </a:ext>
            </a:extLst>
          </p:cNvPr>
          <p:cNvSpPr txBox="1"/>
          <p:nvPr/>
        </p:nvSpPr>
        <p:spPr>
          <a:xfrm>
            <a:off x="41416" y="530802"/>
            <a:ext cx="1180651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system supports three main user roles:</a:t>
            </a:r>
          </a:p>
          <a:p>
            <a:endParaRPr lang="en-US" sz="2000" dirty="0"/>
          </a:p>
          <a:p>
            <a:r>
              <a:rPr lang="en-US" sz="2000" dirty="0"/>
              <a:t>Manager:</a:t>
            </a:r>
          </a:p>
          <a:p>
            <a:r>
              <a:rPr lang="en-US" sz="2000" dirty="0"/>
              <a:t>- Manages campaigns, Hajj applicants, employees, hotels, and transport companies</a:t>
            </a:r>
          </a:p>
          <a:p>
            <a:r>
              <a:rPr lang="en-US" sz="2000" dirty="0"/>
              <a:t>- Has full access to the main management screens</a:t>
            </a:r>
          </a:p>
          <a:p>
            <a:endParaRPr lang="en-US" sz="2000" dirty="0"/>
          </a:p>
          <a:p>
            <a:r>
              <a:rPr lang="en-US" sz="2000" dirty="0"/>
              <a:t>Employee:</a:t>
            </a:r>
          </a:p>
          <a:p>
            <a:r>
              <a:rPr lang="en-US" sz="2000" dirty="0"/>
              <a:t>- Views and updates profile information</a:t>
            </a:r>
          </a:p>
          <a:p>
            <a:r>
              <a:rPr lang="en-US" sz="2000" dirty="0"/>
              <a:t>- Checks assigned tasks</a:t>
            </a:r>
          </a:p>
          <a:p>
            <a:r>
              <a:rPr lang="en-US" sz="2000" dirty="0"/>
              <a:t>- Reads and replies to messages</a:t>
            </a:r>
          </a:p>
          <a:p>
            <a:endParaRPr lang="en-US" sz="2000" dirty="0"/>
          </a:p>
          <a:p>
            <a:r>
              <a:rPr lang="en-US" sz="2000" dirty="0"/>
              <a:t>Customer:</a:t>
            </a:r>
          </a:p>
          <a:p>
            <a:r>
              <a:rPr lang="en-US" sz="2000" dirty="0"/>
              <a:t>- Views personal Hajj information</a:t>
            </a:r>
          </a:p>
          <a:p>
            <a:r>
              <a:rPr lang="en-US" sz="2000" dirty="0"/>
              <a:t>- Checks booking, hotel, and transport details</a:t>
            </a:r>
          </a:p>
          <a:p>
            <a:r>
              <a:rPr lang="en-US" sz="2000" dirty="0"/>
              <a:t>- Can edit limited information such as phone number and password</a:t>
            </a:r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3FFC0B71-7A4C-F708-C050-378B0F0C4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7516" y="5239783"/>
            <a:ext cx="914400" cy="914400"/>
          </a:xfrm>
          <a:prstGeom prst="rect">
            <a:avLst/>
          </a:prstGeom>
        </p:spPr>
      </p:pic>
      <p:pic>
        <p:nvPicPr>
          <p:cNvPr id="9" name="Graphic 8" descr="Office worker">
            <a:extLst>
              <a:ext uri="{FF2B5EF4-FFF2-40B4-BE49-F238E27FC236}">
                <a16:creationId xmlns:a16="http://schemas.microsoft.com/office/drawing/2014/main" id="{47CAFBA9-C49F-1EC8-3F6D-AF6BE7C9D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5411" y="5307107"/>
            <a:ext cx="914400" cy="914400"/>
          </a:xfrm>
          <a:prstGeom prst="rect">
            <a:avLst/>
          </a:prstGeom>
        </p:spPr>
      </p:pic>
      <p:pic>
        <p:nvPicPr>
          <p:cNvPr id="11" name="Graphic 10" descr="User">
            <a:extLst>
              <a:ext uri="{FF2B5EF4-FFF2-40B4-BE49-F238E27FC236}">
                <a16:creationId xmlns:a16="http://schemas.microsoft.com/office/drawing/2014/main" id="{CD5157CC-F2BB-9E59-ED83-CDAC1982E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7482" y="5239783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A4BAF7-EB6B-CE56-AB3D-7CA566B2AF54}"/>
              </a:ext>
            </a:extLst>
          </p:cNvPr>
          <p:cNvSpPr txBox="1"/>
          <p:nvPr/>
        </p:nvSpPr>
        <p:spPr>
          <a:xfrm>
            <a:off x="1287870" y="6166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426BE-1ED7-B5CA-9A7B-81A64ABB7E5C}"/>
              </a:ext>
            </a:extLst>
          </p:cNvPr>
          <p:cNvSpPr txBox="1"/>
          <p:nvPr/>
        </p:nvSpPr>
        <p:spPr>
          <a:xfrm>
            <a:off x="4885765" y="6166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Employee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60C87-EEF4-07A5-9C04-A4723A93920F}"/>
              </a:ext>
            </a:extLst>
          </p:cNvPr>
          <p:cNvSpPr txBox="1"/>
          <p:nvPr/>
        </p:nvSpPr>
        <p:spPr>
          <a:xfrm>
            <a:off x="8662415" y="6154183"/>
            <a:ext cx="318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582173-45C0-D27A-147A-2615EF624085}"/>
              </a:ext>
            </a:extLst>
          </p:cNvPr>
          <p:cNvSpPr txBox="1"/>
          <p:nvPr/>
        </p:nvSpPr>
        <p:spPr>
          <a:xfrm>
            <a:off x="41416" y="44929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System Users and Roles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58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33FEC-D3C6-53A0-0238-1225FB85C079}"/>
              </a:ext>
            </a:extLst>
          </p:cNvPr>
          <p:cNvSpPr txBox="1"/>
          <p:nvPr/>
        </p:nvSpPr>
        <p:spPr>
          <a:xfrm>
            <a:off x="107576" y="14254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System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C4D97-5E3B-2F0C-0530-05B03655B126}"/>
              </a:ext>
            </a:extLst>
          </p:cNvPr>
          <p:cNvSpPr txBox="1"/>
          <p:nvPr/>
        </p:nvSpPr>
        <p:spPr>
          <a:xfrm>
            <a:off x="107575" y="621304"/>
            <a:ext cx="85164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system provides several important features:</a:t>
            </a:r>
          </a:p>
          <a:p>
            <a:endParaRPr lang="en-US" sz="2000" dirty="0"/>
          </a:p>
          <a:p>
            <a:r>
              <a:rPr lang="en-US" sz="2000" dirty="0"/>
              <a:t>- Role-based login</a:t>
            </a:r>
          </a:p>
          <a:p>
            <a:r>
              <a:rPr lang="en-US" sz="2000" dirty="0"/>
              <a:t>- CRUD operations</a:t>
            </a:r>
          </a:p>
          <a:p>
            <a:r>
              <a:rPr lang="en-US" sz="2000" dirty="0"/>
              <a:t>- Employee task management</a:t>
            </a:r>
          </a:p>
          <a:p>
            <a:r>
              <a:rPr lang="en-US" sz="2000" dirty="0"/>
              <a:t>- Internal messaging</a:t>
            </a:r>
          </a:p>
          <a:p>
            <a:r>
              <a:rPr lang="en-US" sz="2000" dirty="0"/>
              <a:t>- Customer booking view</a:t>
            </a:r>
          </a:p>
          <a:p>
            <a:r>
              <a:rPr lang="en-US" sz="2000" dirty="0"/>
              <a:t>- Hotel and transport tracking</a:t>
            </a:r>
          </a:p>
          <a:p>
            <a:r>
              <a:rPr lang="en-US" sz="2000" dirty="0"/>
              <a:t>- Organized dashboards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9E5E7-FF01-4578-376C-CA4FE3F1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79" y="1647867"/>
            <a:ext cx="6073901" cy="1006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3B7372-B504-4F78-D49C-F3AAD678F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74" y="3636008"/>
            <a:ext cx="10602805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2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5014C-42BE-9161-6FF9-1B843B49A6FC}"/>
              </a:ext>
            </a:extLst>
          </p:cNvPr>
          <p:cNvSpPr txBox="1"/>
          <p:nvPr/>
        </p:nvSpPr>
        <p:spPr>
          <a:xfrm>
            <a:off x="224117" y="612844"/>
            <a:ext cx="740484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system uses a MySQL relational database to store and organize all project data.</a:t>
            </a:r>
          </a:p>
          <a:p>
            <a:endParaRPr lang="en-US" sz="2000" dirty="0"/>
          </a:p>
          <a:p>
            <a:r>
              <a:rPr lang="en-US" sz="2000" dirty="0"/>
              <a:t>The database is divided into several related tables, such as:</a:t>
            </a:r>
          </a:p>
          <a:p>
            <a:r>
              <a:rPr lang="en-US" sz="2000" dirty="0"/>
              <a:t>- users</a:t>
            </a:r>
          </a:p>
          <a:p>
            <a:r>
              <a:rPr lang="en-US" sz="2000" dirty="0"/>
              <a:t>- employees</a:t>
            </a:r>
          </a:p>
          <a:p>
            <a:r>
              <a:rPr lang="en-US" sz="2000" dirty="0"/>
              <a:t>- hajj_applicants</a:t>
            </a:r>
          </a:p>
          <a:p>
            <a:r>
              <a:rPr lang="en-US" sz="2000" dirty="0"/>
              <a:t>- campaigns</a:t>
            </a:r>
          </a:p>
          <a:p>
            <a:r>
              <a:rPr lang="en-US" sz="2000" dirty="0"/>
              <a:t>- packages</a:t>
            </a:r>
          </a:p>
          <a:p>
            <a:r>
              <a:rPr lang="en-US" sz="2000" dirty="0"/>
              <a:t>- bookings</a:t>
            </a:r>
          </a:p>
          <a:p>
            <a:r>
              <a:rPr lang="en-US" sz="2000" dirty="0"/>
              <a:t>- hotels</a:t>
            </a:r>
          </a:p>
          <a:p>
            <a:r>
              <a:rPr lang="en-US" sz="2000" dirty="0"/>
              <a:t>- hotel_bookings</a:t>
            </a:r>
          </a:p>
          <a:p>
            <a:r>
              <a:rPr lang="en-US" sz="2000" dirty="0"/>
              <a:t>- transport_companies</a:t>
            </a:r>
          </a:p>
          <a:p>
            <a:r>
              <a:rPr lang="en-US" sz="2000" dirty="0"/>
              <a:t>- transports</a:t>
            </a:r>
          </a:p>
          <a:p>
            <a:r>
              <a:rPr lang="en-US" sz="2000" dirty="0"/>
              <a:t>- employee_tasks</a:t>
            </a:r>
          </a:p>
          <a:p>
            <a:r>
              <a:rPr lang="en-US" sz="2000" dirty="0"/>
              <a:t>- employee_messages</a:t>
            </a:r>
          </a:p>
          <a:p>
            <a:endParaRPr lang="en-US" sz="2000" dirty="0"/>
          </a:p>
          <a:p>
            <a:r>
              <a:rPr lang="en-US" sz="2000" dirty="0"/>
              <a:t>Each table represents a specific part of the system and is connected to other tables using primary keys and foreign keys.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E075D-78E5-7881-D624-1A6A4372BAD1}"/>
              </a:ext>
            </a:extLst>
          </p:cNvPr>
          <p:cNvSpPr txBox="1"/>
          <p:nvPr/>
        </p:nvSpPr>
        <p:spPr>
          <a:xfrm>
            <a:off x="224117" y="805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Database </a:t>
            </a:r>
            <a:r>
              <a:rPr lang="en-US" sz="2400" dirty="0"/>
              <a:t>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1CFA9-5AC7-F054-6BA5-AAA4E9AD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656" y="1729231"/>
            <a:ext cx="3322320" cy="46143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77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8E9F8D-AE76-E786-0682-567FCC348E4F}"/>
              </a:ext>
            </a:extLst>
          </p:cNvPr>
          <p:cNvSpPr txBox="1"/>
          <p:nvPr/>
        </p:nvSpPr>
        <p:spPr>
          <a:xfrm>
            <a:off x="89647" y="2052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Main Database Tables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C1A56-99F0-875A-FE0B-8296AE3E1364}"/>
              </a:ext>
            </a:extLst>
          </p:cNvPr>
          <p:cNvSpPr txBox="1"/>
          <p:nvPr/>
        </p:nvSpPr>
        <p:spPr>
          <a:xfrm>
            <a:off x="89647" y="694835"/>
            <a:ext cx="6096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Important tables in the system:</a:t>
            </a:r>
          </a:p>
          <a:p>
            <a:endParaRPr lang="en-US" sz="2000" dirty="0"/>
          </a:p>
          <a:p>
            <a:r>
              <a:rPr lang="en-US" sz="2000" dirty="0"/>
              <a:t>- users: stores login accounts and roles</a:t>
            </a:r>
          </a:p>
          <a:p>
            <a:r>
              <a:rPr lang="en-US" sz="2000" dirty="0"/>
              <a:t>- employees: stores employee information</a:t>
            </a:r>
          </a:p>
          <a:p>
            <a:r>
              <a:rPr lang="en-US" sz="2000" dirty="0"/>
              <a:t>- hajj_applicants: stores pilgrim/customer data</a:t>
            </a:r>
          </a:p>
          <a:p>
            <a:r>
              <a:rPr lang="en-US" sz="2000" dirty="0"/>
              <a:t>- campaigns: stores campaign records</a:t>
            </a:r>
          </a:p>
          <a:p>
            <a:r>
              <a:rPr lang="en-US" sz="2000" dirty="0"/>
              <a:t>- packages: stores Hajj package details</a:t>
            </a:r>
          </a:p>
          <a:p>
            <a:r>
              <a:rPr lang="en-US" sz="2000" dirty="0"/>
              <a:t>- bookings: stores customer bookings</a:t>
            </a:r>
          </a:p>
          <a:p>
            <a:r>
              <a:rPr lang="en-US" sz="2000" dirty="0"/>
              <a:t>- hotels: stores hotel information</a:t>
            </a:r>
          </a:p>
          <a:p>
            <a:r>
              <a:rPr lang="en-US" sz="2000" dirty="0"/>
              <a:t>- hotel_bookings: stores hotel reservations</a:t>
            </a:r>
          </a:p>
          <a:p>
            <a:r>
              <a:rPr lang="en-US" sz="2000" dirty="0"/>
              <a:t>- transports: stores transport trips</a:t>
            </a:r>
          </a:p>
          <a:p>
            <a:r>
              <a:rPr lang="en-US" sz="2000" dirty="0"/>
              <a:t>- employee_tasks: stores employee tasks</a:t>
            </a:r>
          </a:p>
          <a:p>
            <a:r>
              <a:rPr lang="en-US" sz="2000" dirty="0"/>
              <a:t>- employee_messages: stores internal messages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E18464-C1F8-0BCB-69C5-B172D2F6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35" y="574630"/>
            <a:ext cx="2689412" cy="2671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DB6F66-C51A-FB34-705D-E0FB24A3C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835" y="3991196"/>
            <a:ext cx="3599032" cy="127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A4472-CE79-8FCA-0244-CFD4138FFF2D}"/>
              </a:ext>
            </a:extLst>
          </p:cNvPr>
          <p:cNvSpPr txBox="1"/>
          <p:nvPr/>
        </p:nvSpPr>
        <p:spPr>
          <a:xfrm>
            <a:off x="179294" y="2680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Relationships and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3751-43C2-D050-DD46-F594ED82DDA4}"/>
              </a:ext>
            </a:extLst>
          </p:cNvPr>
          <p:cNvSpPr txBox="1"/>
          <p:nvPr/>
        </p:nvSpPr>
        <p:spPr>
          <a:xfrm>
            <a:off x="179294" y="806441"/>
            <a:ext cx="488576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database uses Primary Keys and Foreign Keys to connect tables.</a:t>
            </a:r>
          </a:p>
          <a:p>
            <a:endParaRPr lang="en-US" sz="2000" dirty="0"/>
          </a:p>
          <a:p>
            <a:r>
              <a:rPr lang="en-US" sz="2000" dirty="0"/>
              <a:t>Examples:</a:t>
            </a:r>
          </a:p>
          <a:p>
            <a:r>
              <a:rPr lang="en-US" sz="2000" dirty="0"/>
              <a:t>- employees → employee_tasks</a:t>
            </a:r>
          </a:p>
          <a:p>
            <a:r>
              <a:rPr lang="en-US" sz="2000" dirty="0"/>
              <a:t>- employees → employee_messages</a:t>
            </a:r>
          </a:p>
          <a:p>
            <a:r>
              <a:rPr lang="en-US" sz="2000" dirty="0"/>
              <a:t>- hajj_applicants → bookings</a:t>
            </a:r>
          </a:p>
          <a:p>
            <a:r>
              <a:rPr lang="en-US" sz="2000" dirty="0"/>
              <a:t>- packages → bookings</a:t>
            </a:r>
          </a:p>
          <a:p>
            <a:r>
              <a:rPr lang="en-US" sz="2000" dirty="0"/>
              <a:t>- hotels → hotel_bookings</a:t>
            </a:r>
          </a:p>
          <a:p>
            <a:r>
              <a:rPr lang="en-US" sz="2000" dirty="0"/>
              <a:t>- transports → hajji_transports</a:t>
            </a:r>
          </a:p>
          <a:p>
            <a:endParaRPr lang="en-US" sz="2000" dirty="0"/>
          </a:p>
          <a:p>
            <a:r>
              <a:rPr lang="en-US" sz="2000" dirty="0"/>
              <a:t>Constraints help protect data and prevent invalid records.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525493-AE7B-9B02-D973-4AEB0613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66" y="77900"/>
            <a:ext cx="6936574" cy="6684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27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B3851-2A36-6A85-AB20-1EAC504922FA}"/>
              </a:ext>
            </a:extLst>
          </p:cNvPr>
          <p:cNvSpPr txBox="1"/>
          <p:nvPr/>
        </p:nvSpPr>
        <p:spPr>
          <a:xfrm>
            <a:off x="89647" y="18737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SQL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917E0-CF4C-4216-EE16-321AC7F622C2}"/>
              </a:ext>
            </a:extLst>
          </p:cNvPr>
          <p:cNvSpPr txBox="1"/>
          <p:nvPr/>
        </p:nvSpPr>
        <p:spPr>
          <a:xfrm>
            <a:off x="89647" y="769675"/>
            <a:ext cx="93412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SQL was used to:</a:t>
            </a:r>
          </a:p>
          <a:p>
            <a:endParaRPr lang="en-US" sz="2000" dirty="0"/>
          </a:p>
          <a:p>
            <a:r>
              <a:rPr lang="en-US" sz="2000" dirty="0"/>
              <a:t>- Create database tables</a:t>
            </a:r>
          </a:p>
          <a:p>
            <a:r>
              <a:rPr lang="en-US" sz="2000" dirty="0"/>
              <a:t>- Define columns and data types</a:t>
            </a:r>
          </a:p>
          <a:p>
            <a:r>
              <a:rPr lang="en-US" sz="2000" dirty="0"/>
              <a:t>- Add primary keys and foreign keys</a:t>
            </a:r>
          </a:p>
          <a:p>
            <a:r>
              <a:rPr lang="en-US" sz="2000" dirty="0"/>
              <a:t>- Insert sample data</a:t>
            </a:r>
          </a:p>
          <a:p>
            <a:r>
              <a:rPr lang="en-US" sz="2000" dirty="0"/>
              <a:t>- Apply CRUD operations</a:t>
            </a:r>
          </a:p>
          <a:p>
            <a:endParaRPr lang="en-US" sz="2000" dirty="0"/>
          </a:p>
          <a:p>
            <a:r>
              <a:rPr lang="en-US" sz="2000" dirty="0"/>
              <a:t>Main SQL commands used:</a:t>
            </a:r>
          </a:p>
          <a:p>
            <a:r>
              <a:rPr lang="en-US" sz="2000" dirty="0"/>
              <a:t>CREATE TABLE, INSERT, SELECT, UPDATE, DELETE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9C103-BD68-7AB5-677C-142CDFD9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535" y="5886659"/>
            <a:ext cx="9187161" cy="783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4A603-219A-BCE5-C53C-7EDA6CBC2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535" y="4060414"/>
            <a:ext cx="6726489" cy="15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4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C673A-2E3C-52C1-6200-F0541D9BD9C4}"/>
              </a:ext>
            </a:extLst>
          </p:cNvPr>
          <p:cNvSpPr txBox="1"/>
          <p:nvPr/>
        </p:nvSpPr>
        <p:spPr>
          <a:xfrm>
            <a:off x="125506" y="25012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Java and JDBC Connection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973F3-5953-9ED8-75A5-F5BCD7B44790}"/>
              </a:ext>
            </a:extLst>
          </p:cNvPr>
          <p:cNvSpPr txBox="1"/>
          <p:nvPr/>
        </p:nvSpPr>
        <p:spPr>
          <a:xfrm>
            <a:off x="125506" y="814498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Java application connects to MySQL using JDBC.</a:t>
            </a:r>
          </a:p>
          <a:p>
            <a:endParaRPr lang="en-US" sz="2000" dirty="0"/>
          </a:p>
          <a:p>
            <a:r>
              <a:rPr lang="en-US" sz="2000" dirty="0"/>
              <a:t>The system uses:</a:t>
            </a:r>
          </a:p>
          <a:p>
            <a:r>
              <a:rPr lang="en-US" sz="2000" dirty="0"/>
              <a:t>- Connection: to connect Java with MySQL</a:t>
            </a:r>
          </a:p>
          <a:p>
            <a:r>
              <a:rPr lang="en-US" sz="2000" dirty="0"/>
              <a:t>- PreparedStatement: to execute SQL queries safely</a:t>
            </a:r>
          </a:p>
          <a:p>
            <a:r>
              <a:rPr lang="en-US" sz="2000" dirty="0"/>
              <a:t>- ResultSet: to retrieve query results</a:t>
            </a:r>
          </a:p>
          <a:p>
            <a:r>
              <a:rPr lang="en-US" sz="2000" dirty="0"/>
              <a:t>- JTable: to display database records in the GUI</a:t>
            </a:r>
          </a:p>
          <a:p>
            <a:endParaRPr lang="en-US" sz="2000" dirty="0"/>
          </a:p>
          <a:p>
            <a:r>
              <a:rPr lang="en-US" sz="2000" dirty="0"/>
              <a:t>Workflow:</a:t>
            </a:r>
          </a:p>
          <a:p>
            <a:r>
              <a:rPr lang="en-US" sz="2000" dirty="0"/>
              <a:t>Button Click → SQL Query → Database → GUI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B408D-56F5-E7A6-86E3-E441B3DA6B1F}"/>
              </a:ext>
            </a:extLst>
          </p:cNvPr>
          <p:cNvSpPr txBox="1"/>
          <p:nvPr/>
        </p:nvSpPr>
        <p:spPr>
          <a:xfrm>
            <a:off x="125506" y="447645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Java GUI  →  JDBC  →  MySQL 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53091-C044-4205-7F5B-12F3A842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92821"/>
            <a:ext cx="5934903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0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02F371-178E-03A2-6A6F-45233762800B}"/>
              </a:ext>
            </a:extLst>
          </p:cNvPr>
          <p:cNvSpPr txBox="1"/>
          <p:nvPr/>
        </p:nvSpPr>
        <p:spPr>
          <a:xfrm>
            <a:off x="134471" y="2321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Manager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9E8EC-8FC4-E950-F6C5-453B58C37756}"/>
              </a:ext>
            </a:extLst>
          </p:cNvPr>
          <p:cNvSpPr txBox="1"/>
          <p:nvPr/>
        </p:nvSpPr>
        <p:spPr>
          <a:xfrm>
            <a:off x="134470" y="765646"/>
            <a:ext cx="26494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Manager Dashboard provides full access to management screens.</a:t>
            </a:r>
          </a:p>
          <a:p>
            <a:endParaRPr lang="en-US" sz="2000" dirty="0"/>
          </a:p>
          <a:p>
            <a:r>
              <a:rPr lang="en-US" sz="2000" dirty="0"/>
              <a:t>The Manager can manage:</a:t>
            </a:r>
          </a:p>
          <a:p>
            <a:r>
              <a:rPr lang="en-US" sz="2000" dirty="0"/>
              <a:t>- Campaigns</a:t>
            </a:r>
          </a:p>
          <a:p>
            <a:r>
              <a:rPr lang="en-US" sz="2000" dirty="0"/>
              <a:t>- Hajj applicants</a:t>
            </a:r>
          </a:p>
          <a:p>
            <a:r>
              <a:rPr lang="en-US" sz="2000" dirty="0"/>
              <a:t>- Employees</a:t>
            </a:r>
          </a:p>
          <a:p>
            <a:r>
              <a:rPr lang="en-US" sz="2000" dirty="0"/>
              <a:t>- Hotels</a:t>
            </a:r>
          </a:p>
          <a:p>
            <a:r>
              <a:rPr lang="en-US" sz="2000" dirty="0"/>
              <a:t>- Transport companies</a:t>
            </a:r>
          </a:p>
          <a:p>
            <a:endParaRPr lang="en-US" sz="2000" dirty="0"/>
          </a:p>
          <a:p>
            <a:r>
              <a:rPr lang="en-US" sz="2000" dirty="0"/>
              <a:t>The Manager can add, update, delete, and view records.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6F8BC-2A7B-5B2A-6B44-F2958F907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930" y="3056965"/>
            <a:ext cx="9345316" cy="362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1C1C9E-92FC-6BF9-B800-5EA5EE550654}"/>
              </a:ext>
            </a:extLst>
          </p:cNvPr>
          <p:cNvSpPr txBox="1"/>
          <p:nvPr/>
        </p:nvSpPr>
        <p:spPr>
          <a:xfrm>
            <a:off x="125506" y="196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Employee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B388C-317B-80F8-53D8-C76FD698D596}"/>
              </a:ext>
            </a:extLst>
          </p:cNvPr>
          <p:cNvSpPr txBox="1"/>
          <p:nvPr/>
        </p:nvSpPr>
        <p:spPr>
          <a:xfrm>
            <a:off x="125506" y="922980"/>
            <a:ext cx="33617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Employee Dashboard provides work-related services.</a:t>
            </a:r>
          </a:p>
          <a:p>
            <a:endParaRPr lang="en-US" sz="2000" dirty="0"/>
          </a:p>
          <a:p>
            <a:r>
              <a:rPr lang="en-US" sz="2000" dirty="0"/>
              <a:t>The Employee can:</a:t>
            </a:r>
          </a:p>
          <a:p>
            <a:r>
              <a:rPr lang="en-US" sz="2000" dirty="0"/>
              <a:t>- View profile information</a:t>
            </a:r>
          </a:p>
          <a:p>
            <a:r>
              <a:rPr lang="en-US" sz="2000" dirty="0"/>
              <a:t>- View assigned tasks</a:t>
            </a:r>
          </a:p>
          <a:p>
            <a:r>
              <a:rPr lang="en-US" sz="2000" dirty="0"/>
              <a:t>- Mark tasks as done</a:t>
            </a:r>
          </a:p>
          <a:p>
            <a:r>
              <a:rPr lang="en-US" sz="2000" dirty="0"/>
              <a:t>- Read and reply to messages</a:t>
            </a:r>
          </a:p>
          <a:p>
            <a:endParaRPr lang="en-US" sz="2000" dirty="0"/>
          </a:p>
          <a:p>
            <a:r>
              <a:rPr lang="en-US" sz="2000" dirty="0"/>
              <a:t>Main tables:</a:t>
            </a:r>
          </a:p>
          <a:p>
            <a:r>
              <a:rPr lang="en-US" sz="2000" dirty="0"/>
              <a:t>- employees</a:t>
            </a:r>
          </a:p>
          <a:p>
            <a:r>
              <a:rPr lang="en-US" sz="2000" dirty="0"/>
              <a:t>- employee_tasks</a:t>
            </a:r>
          </a:p>
          <a:p>
            <a:r>
              <a:rPr lang="en-US" sz="2000" dirty="0"/>
              <a:t>- employee_messages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C8C77-74F8-606C-704E-20BEE0E10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187" y="3286101"/>
            <a:ext cx="8760307" cy="33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3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01C1BF-7FEE-AAFD-87B8-186B5901BB96}"/>
              </a:ext>
            </a:extLst>
          </p:cNvPr>
          <p:cNvSpPr txBox="1"/>
          <p:nvPr/>
        </p:nvSpPr>
        <p:spPr>
          <a:xfrm>
            <a:off x="89647" y="1335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Customer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349D3-AF06-E372-6F82-4836E8C201AE}"/>
              </a:ext>
            </a:extLst>
          </p:cNvPr>
          <p:cNvSpPr txBox="1"/>
          <p:nvPr/>
        </p:nvSpPr>
        <p:spPr>
          <a:xfrm>
            <a:off x="89646" y="762000"/>
            <a:ext cx="35914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Customer Dashboard allows customers to view Hajj-related services.</a:t>
            </a:r>
          </a:p>
          <a:p>
            <a:endParaRPr lang="en-US" sz="2400" dirty="0"/>
          </a:p>
          <a:p>
            <a:r>
              <a:rPr lang="en-US" sz="2400" dirty="0"/>
              <a:t>The Customer can view:</a:t>
            </a:r>
          </a:p>
          <a:p>
            <a:r>
              <a:rPr lang="en-US" sz="2400" dirty="0"/>
              <a:t>- Personal Hajj profile</a:t>
            </a:r>
          </a:p>
          <a:p>
            <a:r>
              <a:rPr lang="en-US" sz="2400" dirty="0"/>
              <a:t>- Booking information</a:t>
            </a:r>
          </a:p>
          <a:p>
            <a:r>
              <a:rPr lang="en-US" sz="2400" dirty="0"/>
              <a:t>- Hotel reservation</a:t>
            </a:r>
          </a:p>
          <a:p>
            <a:r>
              <a:rPr lang="en-US" sz="2400" dirty="0"/>
              <a:t>- Transport information</a:t>
            </a:r>
          </a:p>
          <a:p>
            <a:endParaRPr lang="en-US" sz="2400" dirty="0"/>
          </a:p>
          <a:p>
            <a:r>
              <a:rPr lang="en-US" sz="2400" dirty="0"/>
              <a:t>The customer has limited access and can only view personal service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25285-C9F8-1B58-727A-844FBA86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078" y="2961519"/>
            <a:ext cx="8421275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7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FFE6DA-83C4-C53C-40AA-954E40536836}"/>
              </a:ext>
            </a:extLst>
          </p:cNvPr>
          <p:cNvSpPr txBox="1"/>
          <p:nvPr/>
        </p:nvSpPr>
        <p:spPr>
          <a:xfrm>
            <a:off x="125505" y="2142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CRUD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DBBF2-1EFB-CEAA-C576-08FB441D368A}"/>
              </a:ext>
            </a:extLst>
          </p:cNvPr>
          <p:cNvSpPr txBox="1"/>
          <p:nvPr/>
        </p:nvSpPr>
        <p:spPr>
          <a:xfrm>
            <a:off x="125505" y="808255"/>
            <a:ext cx="715383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system supports the four main database operations:</a:t>
            </a:r>
          </a:p>
          <a:p>
            <a:endParaRPr lang="en-US" sz="2000" dirty="0"/>
          </a:p>
          <a:p>
            <a:r>
              <a:rPr lang="en-US" sz="2000" dirty="0"/>
              <a:t>Create:</a:t>
            </a:r>
          </a:p>
          <a:p>
            <a:r>
              <a:rPr lang="en-US" sz="2000" dirty="0"/>
              <a:t>- Add new records</a:t>
            </a:r>
          </a:p>
          <a:p>
            <a:endParaRPr lang="en-US" sz="2000" dirty="0"/>
          </a:p>
          <a:p>
            <a:r>
              <a:rPr lang="en-US" sz="2000" dirty="0"/>
              <a:t>Read:</a:t>
            </a:r>
          </a:p>
          <a:p>
            <a:r>
              <a:rPr lang="en-US" sz="2000" dirty="0"/>
              <a:t>- Display records in tables</a:t>
            </a:r>
          </a:p>
          <a:p>
            <a:endParaRPr lang="en-US" sz="2000" dirty="0"/>
          </a:p>
          <a:p>
            <a:r>
              <a:rPr lang="en-US" sz="2000" dirty="0"/>
              <a:t>Update:</a:t>
            </a:r>
          </a:p>
          <a:p>
            <a:r>
              <a:rPr lang="en-US" sz="2000" dirty="0"/>
              <a:t>- Modify existing data</a:t>
            </a:r>
          </a:p>
          <a:p>
            <a:endParaRPr lang="en-US" sz="2000" dirty="0"/>
          </a:p>
          <a:p>
            <a:r>
              <a:rPr lang="en-US" sz="2000" dirty="0"/>
              <a:t>Delete:</a:t>
            </a:r>
          </a:p>
          <a:p>
            <a:r>
              <a:rPr lang="en-US" sz="2000" dirty="0"/>
              <a:t>- Remove records when needed</a:t>
            </a:r>
          </a:p>
          <a:p>
            <a:endParaRPr lang="en-US" sz="2000" dirty="0"/>
          </a:p>
          <a:p>
            <a:r>
              <a:rPr lang="en-US" sz="2000" dirty="0"/>
              <a:t>These operations are mainly used in the Manager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836AF-537A-577B-C9F1-53BE762CA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08" y="5735376"/>
            <a:ext cx="4963218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8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F1DE96-08CA-33EE-2AA7-1B261BE0E008}"/>
              </a:ext>
            </a:extLst>
          </p:cNvPr>
          <p:cNvSpPr txBox="1"/>
          <p:nvPr/>
        </p:nvSpPr>
        <p:spPr>
          <a:xfrm>
            <a:off x="116542" y="28598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Testing and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7DF11-4F62-9D00-D532-F18164B1CEE8}"/>
              </a:ext>
            </a:extLst>
          </p:cNvPr>
          <p:cNvSpPr txBox="1"/>
          <p:nvPr/>
        </p:nvSpPr>
        <p:spPr>
          <a:xfrm>
            <a:off x="116541" y="940910"/>
            <a:ext cx="6469765" cy="4957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system was tested using sample data in MySQL.</a:t>
            </a:r>
          </a:p>
          <a:p>
            <a:endParaRPr lang="en-US" sz="2400" dirty="0"/>
          </a:p>
          <a:p>
            <a:r>
              <a:rPr lang="en-US" sz="2400" dirty="0"/>
              <a:t>Testing included:</a:t>
            </a:r>
          </a:p>
          <a:p>
            <a:r>
              <a:rPr lang="en-US" sz="2400" dirty="0"/>
              <a:t>- Login for different roles</a:t>
            </a:r>
          </a:p>
          <a:p>
            <a:r>
              <a:rPr lang="en-US" sz="2400" dirty="0"/>
              <a:t>- Adding and updating records</a:t>
            </a:r>
          </a:p>
          <a:p>
            <a:r>
              <a:rPr lang="en-US" sz="2400" dirty="0"/>
              <a:t>- Viewing data in tables</a:t>
            </a:r>
          </a:p>
          <a:p>
            <a:r>
              <a:rPr lang="en-US" sz="2400" dirty="0"/>
              <a:t>- Updating task status</a:t>
            </a:r>
          </a:p>
          <a:p>
            <a:r>
              <a:rPr lang="en-US" sz="2400" dirty="0"/>
              <a:t>- Cancelling bookings</a:t>
            </a:r>
          </a:p>
          <a:p>
            <a:r>
              <a:rPr lang="en-US" sz="2400" dirty="0"/>
              <a:t>- Checking database changes in Workbench</a:t>
            </a:r>
          </a:p>
          <a:p>
            <a:endParaRPr lang="en-US" sz="2400" dirty="0"/>
          </a:p>
          <a:p>
            <a:r>
              <a:rPr lang="en-US" sz="2400" dirty="0"/>
              <a:t>Testing confirmed that the GUI is connected correctly with the database.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37394-7F0B-5E37-6876-A1B76657E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75" y="285981"/>
            <a:ext cx="2829320" cy="3057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9F8A5-B999-AF13-2B5A-419EDAEAF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307" y="4735239"/>
            <a:ext cx="5371827" cy="84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64C98E-03BD-20C5-DE60-A2C05B183776}"/>
              </a:ext>
            </a:extLst>
          </p:cNvPr>
          <p:cNvSpPr txBox="1"/>
          <p:nvPr/>
        </p:nvSpPr>
        <p:spPr>
          <a:xfrm>
            <a:off x="107577" y="17840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Challenges and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692AF-0FE4-B7F9-1DC6-293759FE8C8E}"/>
              </a:ext>
            </a:extLst>
          </p:cNvPr>
          <p:cNvSpPr txBox="1"/>
          <p:nvPr/>
        </p:nvSpPr>
        <p:spPr>
          <a:xfrm>
            <a:off x="107576" y="950782"/>
            <a:ext cx="982531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Main challenges:</a:t>
            </a:r>
          </a:p>
          <a:p>
            <a:endParaRPr lang="en-US" sz="2000" dirty="0"/>
          </a:p>
          <a:p>
            <a:r>
              <a:rPr lang="en-US" sz="2000" dirty="0"/>
              <a:t>- Connecting Java with MySQL</a:t>
            </a:r>
          </a:p>
          <a:p>
            <a:r>
              <a:rPr lang="en-US" sz="2000" dirty="0"/>
              <a:t>  Solution: Using JDBC and DBConnection.java</a:t>
            </a:r>
          </a:p>
          <a:p>
            <a:endParaRPr lang="en-US" sz="2000" dirty="0"/>
          </a:p>
          <a:p>
            <a:r>
              <a:rPr lang="en-US" sz="2000" dirty="0"/>
              <a:t>- Displaying data for the correct user</a:t>
            </a:r>
          </a:p>
          <a:p>
            <a:r>
              <a:rPr lang="en-US" sz="2000" dirty="0"/>
              <a:t>  Solution: Filtering data using emp_id and hajji_id</a:t>
            </a:r>
          </a:p>
          <a:p>
            <a:endParaRPr lang="en-US" sz="2000" dirty="0"/>
          </a:p>
          <a:p>
            <a:r>
              <a:rPr lang="en-US" sz="2000" dirty="0"/>
              <a:t>- Organizing many tables and relationships</a:t>
            </a:r>
          </a:p>
          <a:p>
            <a:r>
              <a:rPr lang="en-US" sz="2000" dirty="0"/>
              <a:t>  Solution: Using primary keys, foreign keys, and normalization</a:t>
            </a:r>
          </a:p>
          <a:p>
            <a:endParaRPr lang="en-US" sz="2000" dirty="0"/>
          </a:p>
          <a:p>
            <a:r>
              <a:rPr lang="en-US" sz="2000" dirty="0"/>
              <a:t>- Keeping interfaces updated</a:t>
            </a:r>
          </a:p>
          <a:p>
            <a:r>
              <a:rPr lang="en-US" sz="2000" dirty="0"/>
              <a:t>  Solution: Refresh buttons and table reload methods</a:t>
            </a:r>
          </a:p>
        </p:txBody>
      </p:sp>
    </p:spTree>
    <p:extLst>
      <p:ext uri="{BB962C8B-B14F-4D97-AF65-F5344CB8AC3E}">
        <p14:creationId xmlns:p14="http://schemas.microsoft.com/office/powerpoint/2010/main" val="235268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EB84D-F98A-E7CB-4EEA-44FBBC086C1F}"/>
              </a:ext>
            </a:extLst>
          </p:cNvPr>
          <p:cNvSpPr txBox="1"/>
          <p:nvPr/>
        </p:nvSpPr>
        <p:spPr>
          <a:xfrm>
            <a:off x="224118" y="44734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Future 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B8652-815E-41C1-D6CD-F333F9E6816A}"/>
              </a:ext>
            </a:extLst>
          </p:cNvPr>
          <p:cNvSpPr txBox="1"/>
          <p:nvPr/>
        </p:nvSpPr>
        <p:spPr>
          <a:xfrm>
            <a:off x="224118" y="1291913"/>
            <a:ext cx="7620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system can be improved in the future by adding:</a:t>
            </a:r>
          </a:p>
          <a:p>
            <a:endParaRPr lang="en-US" sz="2400" dirty="0"/>
          </a:p>
          <a:p>
            <a:r>
              <a:rPr lang="en-US" sz="2400" dirty="0"/>
              <a:t>- Search and filtering options</a:t>
            </a:r>
          </a:p>
          <a:p>
            <a:r>
              <a:rPr lang="en-US" sz="2400" dirty="0"/>
              <a:t>- PDF report generation</a:t>
            </a:r>
          </a:p>
          <a:p>
            <a:r>
              <a:rPr lang="en-US" sz="2400" dirty="0"/>
              <a:t>- Stronger password security</a:t>
            </a:r>
          </a:p>
          <a:p>
            <a:r>
              <a:rPr lang="en-US" sz="2400" dirty="0"/>
              <a:t>- Notification system</a:t>
            </a:r>
          </a:p>
          <a:p>
            <a:r>
              <a:rPr lang="en-US" sz="2400" dirty="0"/>
              <a:t>- Better dashboard design</a:t>
            </a:r>
          </a:p>
          <a:p>
            <a:r>
              <a:rPr lang="en-US" sz="2400" dirty="0"/>
              <a:t>- More validation for user input</a:t>
            </a:r>
          </a:p>
          <a:p>
            <a:r>
              <a:rPr lang="en-US" sz="2400" dirty="0"/>
              <a:t>- More detailed reports for bookings, hotels, and transport</a:t>
            </a:r>
          </a:p>
        </p:txBody>
      </p:sp>
    </p:spTree>
    <p:extLst>
      <p:ext uri="{BB962C8B-B14F-4D97-AF65-F5344CB8AC3E}">
        <p14:creationId xmlns:p14="http://schemas.microsoft.com/office/powerpoint/2010/main" val="403639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51A836-6FA3-9CA0-66CE-EFBD70BA4B01}"/>
              </a:ext>
            </a:extLst>
          </p:cNvPr>
          <p:cNvSpPr txBox="1"/>
          <p:nvPr/>
        </p:nvSpPr>
        <p:spPr>
          <a:xfrm>
            <a:off x="233082" y="45630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Conclusion and Project 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57189-914A-8A4A-5AAD-848784B94B6E}"/>
              </a:ext>
            </a:extLst>
          </p:cNvPr>
          <p:cNvSpPr txBox="1"/>
          <p:nvPr/>
        </p:nvSpPr>
        <p:spPr>
          <a:xfrm>
            <a:off x="233082" y="1166842"/>
            <a:ext cx="88033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Conclusion:</a:t>
            </a:r>
            <a:br>
              <a:rPr lang="en-US" sz="2400" dirty="0"/>
            </a:br>
            <a:r>
              <a:rPr lang="en-US" sz="2400" dirty="0"/>
              <a:t>The system provides an organized database solution for managing a Hajj and Umrah company.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It supports:</a:t>
            </a:r>
            <a:br>
              <a:rPr lang="en-US" sz="2400" dirty="0"/>
            </a:br>
            <a:r>
              <a:rPr lang="en-US" sz="2400" dirty="0"/>
              <a:t>- Role-based access</a:t>
            </a:r>
            <a:br>
              <a:rPr lang="en-US" sz="2400" dirty="0"/>
            </a:br>
            <a:r>
              <a:rPr lang="en-US" sz="2400" dirty="0"/>
              <a:t>- CRUD operations</a:t>
            </a:r>
            <a:br>
              <a:rPr lang="en-US" sz="2400" dirty="0"/>
            </a:br>
            <a:r>
              <a:rPr lang="en-US" sz="2400" dirty="0"/>
              <a:t>- Database relationships</a:t>
            </a:r>
            <a:br>
              <a:rPr lang="en-US" sz="2400" dirty="0"/>
            </a:br>
            <a:r>
              <a:rPr lang="en-US" sz="2400" dirty="0"/>
              <a:t>- Java and MySQL integration</a:t>
            </a:r>
            <a:br>
              <a:rPr lang="en-US" sz="2400" dirty="0"/>
            </a:br>
            <a:r>
              <a:rPr lang="en-US" sz="2400" dirty="0"/>
              <a:t>- Manager, Employee, and Customer dashboards</a:t>
            </a:r>
          </a:p>
        </p:txBody>
      </p:sp>
    </p:spTree>
    <p:extLst>
      <p:ext uri="{BB962C8B-B14F-4D97-AF65-F5344CB8AC3E}">
        <p14:creationId xmlns:p14="http://schemas.microsoft.com/office/powerpoint/2010/main" val="415479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F09C3-48DB-F617-C741-318B343D55CB}"/>
              </a:ext>
            </a:extLst>
          </p:cNvPr>
          <p:cNvSpPr txBox="1"/>
          <p:nvPr/>
        </p:nvSpPr>
        <p:spPr>
          <a:xfrm>
            <a:off x="206187" y="1501658"/>
            <a:ext cx="112417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project files can be accessed using the following links:</a:t>
            </a:r>
          </a:p>
          <a:p>
            <a:endParaRPr lang="en-US" sz="2000" dirty="0"/>
          </a:p>
          <a:p>
            <a:r>
              <a:rPr lang="en-US" sz="2000" dirty="0"/>
              <a:t>Source Code:</a:t>
            </a:r>
          </a:p>
          <a:p>
            <a:r>
              <a:rPr lang="en-US" sz="2000" dirty="0">
                <a:hlinkClick r:id="rId2"/>
              </a:rPr>
              <a:t>https://github.com/HibaMeneh/HajiiCompanySystem</a:t>
            </a:r>
            <a:endParaRPr lang="ar-SA" sz="2000" dirty="0"/>
          </a:p>
          <a:p>
            <a:endParaRPr lang="en-US" sz="2000" dirty="0"/>
          </a:p>
          <a:p>
            <a:r>
              <a:rPr lang="en-US" sz="2000" dirty="0"/>
              <a:t>Database SQL File:</a:t>
            </a:r>
          </a:p>
          <a:p>
            <a:r>
              <a:rPr lang="en-US" sz="2000" dirty="0">
                <a:hlinkClick r:id="rId3"/>
              </a:rPr>
              <a:t>https://drive.google.com/drive/folders/1SfC1LHnourozUQZdVeOvd1eFaKZ-j73z?hl=ar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Project Report:</a:t>
            </a:r>
          </a:p>
          <a:p>
            <a:r>
              <a:rPr lang="en-US" sz="2000" dirty="0">
                <a:hlinkClick r:id="rId4"/>
              </a:rPr>
              <a:t>https://drive.google.com/drive/folders/18duxPOWe-xY3yPafysyipHD4weGxBhdY?hl=ar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ERD and Normalization Document:</a:t>
            </a:r>
          </a:p>
          <a:p>
            <a:r>
              <a:rPr lang="en-US" sz="2000" dirty="0">
                <a:hlinkClick r:id="rId5"/>
              </a:rPr>
              <a:t>https://drive.google.com/drive/folders/1ctKbE_jBrty-wuRPUunhvnDcrDKsRlEY?hl=ar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F0FD7-0F89-8A91-8A24-C4AA4BB64EEA}"/>
              </a:ext>
            </a:extLst>
          </p:cNvPr>
          <p:cNvSpPr txBox="1"/>
          <p:nvPr/>
        </p:nvSpPr>
        <p:spPr>
          <a:xfrm>
            <a:off x="206188" y="7431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Resources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824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F5E6B3"/>
      </a:lt2>
      <a:accent1>
        <a:srgbClr val="D4AF37"/>
      </a:accent1>
      <a:accent2>
        <a:srgbClr val="FFD700"/>
      </a:accent2>
      <a:accent3>
        <a:srgbClr val="B8860B"/>
      </a:accent3>
      <a:accent4>
        <a:srgbClr val="8A7A4F"/>
      </a:accent4>
      <a:accent5>
        <a:srgbClr val="8B5E3C"/>
      </a:accent5>
      <a:accent6>
        <a:srgbClr val="C0C0C0"/>
      </a:accent6>
      <a:hlink>
        <a:srgbClr val="FFD700"/>
      </a:hlink>
      <a:folHlink>
        <a:srgbClr val="E6C87A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94</TotalTime>
  <Words>1325</Words>
  <Application>Microsoft Office PowerPoint</Application>
  <PresentationFormat>Widescreen</PresentationFormat>
  <Paragraphs>252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جابر</dc:creator>
  <cp:lastModifiedBy>محمد جابر</cp:lastModifiedBy>
  <cp:revision>3</cp:revision>
  <dcterms:created xsi:type="dcterms:W3CDTF">2026-05-14T13:28:25Z</dcterms:created>
  <dcterms:modified xsi:type="dcterms:W3CDTF">2026-05-15T08:30:05Z</dcterms:modified>
</cp:coreProperties>
</file>