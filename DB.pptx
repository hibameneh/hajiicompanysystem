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2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6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0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4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6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5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8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6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06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3636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55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3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43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7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2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873A9A-7E18-47E4-8DB9-7DC8ED8B0A7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60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SfC1LHnourozUQZdVeOvd1eFaKZ-j73z?hl=ar" TargetMode="External"/><Relationship Id="rId2" Type="http://schemas.openxmlformats.org/officeDocument/2006/relationships/hyperlink" Target="https://github.com/HibaMeneh/HajiiCompanySyste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drive/folders/1ctKbE_jBrty-wuRPUunhvnDcrDKsRlEY?hl=ar" TargetMode="External"/><Relationship Id="rId4" Type="http://schemas.openxmlformats.org/officeDocument/2006/relationships/hyperlink" Target="https://drive.google.com/drive/folders/18duxPOWe-xY3yPafysyipHD4weGxBhdY?hl=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D29C57-A18A-CB37-0D20-B6A1A5C873AB}"/>
              </a:ext>
            </a:extLst>
          </p:cNvPr>
          <p:cNvSpPr txBox="1"/>
          <p:nvPr/>
        </p:nvSpPr>
        <p:spPr>
          <a:xfrm>
            <a:off x="85163" y="842682"/>
            <a:ext cx="12021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Al-Usra Hajj and Umrah Company Management System</a:t>
            </a:r>
            <a:endParaRPr lang="ar-SA" sz="2400" b="1" dirty="0"/>
          </a:p>
          <a:p>
            <a:pPr algn="ctr">
              <a:buNone/>
            </a:pPr>
            <a:br>
              <a:rPr lang="en-US" sz="2400" b="1" dirty="0"/>
            </a:br>
            <a:r>
              <a:rPr lang="en-US" sz="2400" b="1" dirty="0"/>
              <a:t>Database Project Presentation</a:t>
            </a:r>
            <a:endParaRPr lang="ar-SA" sz="2400" b="1" dirty="0"/>
          </a:p>
          <a:p>
            <a:pPr algn="ctr">
              <a:buNone/>
            </a:pPr>
            <a:endParaRPr lang="en-US" sz="2400" b="1" dirty="0"/>
          </a:p>
          <a:p>
            <a:pPr algn="ctr">
              <a:buNone/>
            </a:pPr>
            <a:r>
              <a:rPr lang="en-US" sz="2400" b="1" dirty="0"/>
              <a:t>Prepared by:</a:t>
            </a:r>
            <a:br>
              <a:rPr lang="en-US" sz="2400" b="1" dirty="0"/>
            </a:br>
            <a:r>
              <a:rPr lang="en-US" sz="2400" b="1" dirty="0"/>
              <a:t>Mohammed Jaber</a:t>
            </a:r>
            <a:r>
              <a:rPr lang="ar-SA" sz="2400" b="1" dirty="0"/>
              <a:t> </a:t>
            </a:r>
            <a:r>
              <a:rPr lang="en-US" sz="2400" b="1" dirty="0"/>
              <a:t>&amp; Hiba Bani Meneh </a:t>
            </a:r>
            <a:endParaRPr lang="ar-SA" sz="2400" b="1" dirty="0"/>
          </a:p>
          <a:p>
            <a:pPr algn="ctr">
              <a:buNone/>
            </a:pPr>
            <a:endParaRPr lang="en-US" sz="2400" b="1" dirty="0"/>
          </a:p>
          <a:p>
            <a:pPr algn="ctr">
              <a:buNone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25CE76-4FD0-7CE8-DCD2-2FC6626CA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664" y="3348230"/>
            <a:ext cx="3008667" cy="280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1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8F7998-F77C-1FC3-0ED2-CDE84D7CE56B}"/>
              </a:ext>
            </a:extLst>
          </p:cNvPr>
          <p:cNvSpPr txBox="1"/>
          <p:nvPr/>
        </p:nvSpPr>
        <p:spPr>
          <a:xfrm>
            <a:off x="394446" y="1020686"/>
            <a:ext cx="11905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Al-Usra Hajj and Umrah Company Management System is a desktop application designed to manage the main operations of a Hajj and Umrah company.</a:t>
            </a:r>
          </a:p>
          <a:p>
            <a:endParaRPr lang="en-US" dirty="0"/>
          </a:p>
          <a:p>
            <a:r>
              <a:rPr lang="en-US" dirty="0"/>
              <a:t>The system organizes data related to users, employees, Hajj applicants, campaigns, packages, bookings, hotels, transportation, tasks, and messages.</a:t>
            </a:r>
          </a:p>
          <a:p>
            <a:endParaRPr lang="en-US" dirty="0"/>
          </a:p>
          <a:p>
            <a:r>
              <a:rPr lang="en-US" dirty="0"/>
              <a:t>It uses Java Swing for the graphical user interface and MySQL for database management.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922A1-8041-0F48-D32C-43089D17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07" y="3910705"/>
            <a:ext cx="4301172" cy="2533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53D11-1595-B7C2-F887-7A4DE5536F7C}"/>
              </a:ext>
            </a:extLst>
          </p:cNvPr>
          <p:cNvSpPr txBox="1"/>
          <p:nvPr/>
        </p:nvSpPr>
        <p:spPr>
          <a:xfrm>
            <a:off x="394446" y="413983"/>
            <a:ext cx="6149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16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7EA81-FEFE-0015-95E6-F34FBD9E70CF}"/>
              </a:ext>
            </a:extLst>
          </p:cNvPr>
          <p:cNvSpPr txBox="1"/>
          <p:nvPr/>
        </p:nvSpPr>
        <p:spPr>
          <a:xfrm>
            <a:off x="291352" y="1495815"/>
            <a:ext cx="117751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Hajj and Umrah companies manage many types of data such as customers, employees, bookings, hotels, transportation, packages, tasks, and messages.</a:t>
            </a:r>
          </a:p>
          <a:p>
            <a:endParaRPr lang="en-US" sz="2000" dirty="0"/>
          </a:p>
          <a:p>
            <a:r>
              <a:rPr lang="en-US" sz="2000" dirty="0"/>
              <a:t>Managing this data manually can cause several problems:</a:t>
            </a:r>
          </a:p>
          <a:p>
            <a:r>
              <a:rPr lang="en-US" sz="2000" dirty="0"/>
              <a:t>- Data duplication</a:t>
            </a:r>
          </a:p>
          <a:p>
            <a:r>
              <a:rPr lang="en-US" sz="2000" dirty="0"/>
              <a:t>- Missing or incorrect records</a:t>
            </a:r>
          </a:p>
          <a:p>
            <a:r>
              <a:rPr lang="en-US" sz="2000" dirty="0"/>
              <a:t>- Slow searching and updating</a:t>
            </a:r>
          </a:p>
          <a:p>
            <a:r>
              <a:rPr lang="en-US" sz="2000" dirty="0"/>
              <a:t>- Difficulty tracking customer services</a:t>
            </a:r>
          </a:p>
          <a:p>
            <a:r>
              <a:rPr lang="en-US" sz="2000" dirty="0"/>
              <a:t>- Lack of access control between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FF8B1-DC5E-230D-B7AF-8F79CA6F675B}"/>
              </a:ext>
            </a:extLst>
          </p:cNvPr>
          <p:cNvSpPr txBox="1"/>
          <p:nvPr/>
        </p:nvSpPr>
        <p:spPr>
          <a:xfrm>
            <a:off x="291352" y="83946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59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14DF3-C640-2DD0-0045-34B1E58B5DE7}"/>
              </a:ext>
            </a:extLst>
          </p:cNvPr>
          <p:cNvSpPr txBox="1"/>
          <p:nvPr/>
        </p:nvSpPr>
        <p:spPr>
          <a:xfrm>
            <a:off x="116541" y="409186"/>
            <a:ext cx="119589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main objectives of this project are:</a:t>
            </a:r>
          </a:p>
          <a:p>
            <a:endParaRPr lang="en-US" sz="2000" dirty="0"/>
          </a:p>
          <a:p>
            <a:r>
              <a:rPr lang="en-US" sz="2000" dirty="0"/>
              <a:t>- To design a database system for a Hajj and Umrah company</a:t>
            </a:r>
          </a:p>
          <a:p>
            <a:r>
              <a:rPr lang="en-US" sz="2000" dirty="0"/>
              <a:t>- To organize company data in a structured MySQL database</a:t>
            </a:r>
          </a:p>
          <a:p>
            <a:r>
              <a:rPr lang="en-US" sz="2000" dirty="0"/>
              <a:t>- To create user-friendly Java Swing interfaces</a:t>
            </a:r>
          </a:p>
          <a:p>
            <a:r>
              <a:rPr lang="en-US" sz="2000" dirty="0"/>
              <a:t>- To provide role-based access for Manager, Employee, and Customer</a:t>
            </a:r>
          </a:p>
          <a:p>
            <a:r>
              <a:rPr lang="en-US" sz="2000" dirty="0"/>
              <a:t>- To support CRUD operations: Add, View, Update, and Delete</a:t>
            </a:r>
          </a:p>
          <a:p>
            <a:r>
              <a:rPr lang="en-US" sz="2000" dirty="0"/>
              <a:t>- To connect the Java application with the MySQL database using JDBC</a:t>
            </a:r>
          </a:p>
        </p:txBody>
      </p:sp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F38817F4-8BAB-3111-798B-FDF304AA6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986" y="2891299"/>
            <a:ext cx="1075402" cy="1075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E20C34-66BD-7E40-2876-97A6BC4A7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73" y="4289941"/>
            <a:ext cx="813407" cy="891659"/>
          </a:xfrm>
          <a:prstGeom prst="rect">
            <a:avLst/>
          </a:prstGeom>
        </p:spPr>
      </p:pic>
      <p:pic>
        <p:nvPicPr>
          <p:cNvPr id="9" name="Graphic 8" descr="Users">
            <a:extLst>
              <a:ext uri="{FF2B5EF4-FFF2-40B4-BE49-F238E27FC236}">
                <a16:creationId xmlns:a16="http://schemas.microsoft.com/office/drawing/2014/main" id="{B1A7BA2F-0FCA-A713-C8D7-61742E847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02" y="5537198"/>
            <a:ext cx="1075402" cy="1075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228336-ADFF-BA7A-7FA2-BAD6B0912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456" y="5514274"/>
            <a:ext cx="874084" cy="927444"/>
          </a:xfrm>
          <a:prstGeom prst="rect">
            <a:avLst/>
          </a:prstGeom>
        </p:spPr>
      </p:pic>
      <p:pic>
        <p:nvPicPr>
          <p:cNvPr id="13" name="Graphic 12" descr="Lock">
            <a:extLst>
              <a:ext uri="{FF2B5EF4-FFF2-40B4-BE49-F238E27FC236}">
                <a16:creationId xmlns:a16="http://schemas.microsoft.com/office/drawing/2014/main" id="{F017C2A2-3715-76C3-60BA-D5E7BDE5D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5560" y="5409678"/>
            <a:ext cx="1075401" cy="1075401"/>
          </a:xfrm>
          <a:prstGeom prst="rect">
            <a:avLst/>
          </a:prstGeom>
        </p:spPr>
      </p:pic>
      <p:pic>
        <p:nvPicPr>
          <p:cNvPr id="15" name="Graphic 14" descr="Table">
            <a:extLst>
              <a:ext uri="{FF2B5EF4-FFF2-40B4-BE49-F238E27FC236}">
                <a16:creationId xmlns:a16="http://schemas.microsoft.com/office/drawing/2014/main" id="{B731269B-935F-5378-7985-D598072CA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7903" y="4149960"/>
            <a:ext cx="1296194" cy="12961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585CFC-C0C5-1AC5-595E-18F5C08DA5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709" y="5528444"/>
            <a:ext cx="776003" cy="913274"/>
          </a:xfrm>
          <a:prstGeom prst="rect">
            <a:avLst/>
          </a:prstGeom>
        </p:spPr>
      </p:pic>
      <p:pic>
        <p:nvPicPr>
          <p:cNvPr id="19" name="Graphic 18" descr="Syncing cloud">
            <a:extLst>
              <a:ext uri="{FF2B5EF4-FFF2-40B4-BE49-F238E27FC236}">
                <a16:creationId xmlns:a16="http://schemas.microsoft.com/office/drawing/2014/main" id="{8936BE69-582D-4D86-4A1E-AB2ED8CA0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1366" y="2980692"/>
            <a:ext cx="1169268" cy="11692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E181256-677C-070E-1E35-6D6FC8775FE1}"/>
              </a:ext>
            </a:extLst>
          </p:cNvPr>
          <p:cNvSpPr txBox="1"/>
          <p:nvPr/>
        </p:nvSpPr>
        <p:spPr>
          <a:xfrm>
            <a:off x="1389529" y="34722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organize company data in MySQL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DBF4C-B984-B848-FA4E-C50BD766B7D9}"/>
              </a:ext>
            </a:extLst>
          </p:cNvPr>
          <p:cNvSpPr txBox="1"/>
          <p:nvPr/>
        </p:nvSpPr>
        <p:spPr>
          <a:xfrm>
            <a:off x="1389529" y="46596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create Java Swing interfaces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AE9-75E9-9A15-E14B-E71063295AEF}"/>
              </a:ext>
            </a:extLst>
          </p:cNvPr>
          <p:cNvSpPr txBox="1"/>
          <p:nvPr/>
        </p:nvSpPr>
        <p:spPr>
          <a:xfrm>
            <a:off x="1425388" y="60483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Role-based access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66D38E-FDBC-0BC5-9328-12F92C7A24BA}"/>
              </a:ext>
            </a:extLst>
          </p:cNvPr>
          <p:cNvSpPr txBox="1"/>
          <p:nvPr/>
        </p:nvSpPr>
        <p:spPr>
          <a:xfrm>
            <a:off x="6807560" y="4626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Add, View, Update, Delete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1C7020-DD32-288A-0802-DF88C89B1AA5}"/>
              </a:ext>
            </a:extLst>
          </p:cNvPr>
          <p:cNvSpPr txBox="1"/>
          <p:nvPr/>
        </p:nvSpPr>
        <p:spPr>
          <a:xfrm>
            <a:off x="6779955" y="3552988"/>
            <a:ext cx="4763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JDBC connection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B426D4-0824-2855-AE16-3AAF1EADE0F6}"/>
              </a:ext>
            </a:extLst>
          </p:cNvPr>
          <p:cNvSpPr txBox="1"/>
          <p:nvPr/>
        </p:nvSpPr>
        <p:spPr>
          <a:xfrm>
            <a:off x="1389529" y="3108432"/>
            <a:ext cx="164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Database icon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69B2F-83A5-A9EB-3C6D-B605B86D027C}"/>
              </a:ext>
            </a:extLst>
          </p:cNvPr>
          <p:cNvSpPr txBox="1"/>
          <p:nvPr/>
        </p:nvSpPr>
        <p:spPr>
          <a:xfrm>
            <a:off x="1394011" y="4330568"/>
            <a:ext cx="129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</a:t>
            </a:r>
            <a:r>
              <a:rPr lang="ar-SA" dirty="0"/>
              <a:t> </a:t>
            </a:r>
            <a:r>
              <a:rPr lang="en-US" dirty="0"/>
              <a:t>icon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B59A41-AC61-075E-3407-40BB27D48170}"/>
              </a:ext>
            </a:extLst>
          </p:cNvPr>
          <p:cNvSpPr txBox="1"/>
          <p:nvPr/>
        </p:nvSpPr>
        <p:spPr>
          <a:xfrm>
            <a:off x="1425388" y="5662339"/>
            <a:ext cx="1687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Users icon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1AF592-6FD4-3C6C-E09A-347417DC7AD8}"/>
              </a:ext>
            </a:extLst>
          </p:cNvPr>
          <p:cNvSpPr txBox="1"/>
          <p:nvPr/>
        </p:nvSpPr>
        <p:spPr>
          <a:xfrm>
            <a:off x="6807560" y="4331183"/>
            <a:ext cx="2222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Table/CRUD icon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B208CC-4613-022A-CB60-1D77C42E4D78}"/>
              </a:ext>
            </a:extLst>
          </p:cNvPr>
          <p:cNvSpPr txBox="1"/>
          <p:nvPr/>
        </p:nvSpPr>
        <p:spPr>
          <a:xfrm>
            <a:off x="6807560" y="3183656"/>
            <a:ext cx="27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Link/Server icon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982280-BB8E-9D42-5837-35C6628CDEF0}"/>
              </a:ext>
            </a:extLst>
          </p:cNvPr>
          <p:cNvSpPr txBox="1"/>
          <p:nvPr/>
        </p:nvSpPr>
        <p:spPr>
          <a:xfrm>
            <a:off x="5377703" y="6417701"/>
            <a:ext cx="1436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Login icon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B23608-BEB9-5B06-216B-F35F6873495B}"/>
              </a:ext>
            </a:extLst>
          </p:cNvPr>
          <p:cNvSpPr txBox="1"/>
          <p:nvPr/>
        </p:nvSpPr>
        <p:spPr>
          <a:xfrm>
            <a:off x="9753378" y="6417701"/>
            <a:ext cx="1607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Security icon</a:t>
            </a:r>
            <a:br>
              <a:rPr lang="en-US" dirty="0"/>
            </a:b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14FA94-5D40-62B6-B847-0C000478F532}"/>
              </a:ext>
            </a:extLst>
          </p:cNvPr>
          <p:cNvSpPr txBox="1"/>
          <p:nvPr/>
        </p:nvSpPr>
        <p:spPr>
          <a:xfrm>
            <a:off x="7799963" y="6485079"/>
            <a:ext cx="1293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icon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22E7BF-4BDE-26EF-A446-A5BEC2C4742E}"/>
              </a:ext>
            </a:extLst>
          </p:cNvPr>
          <p:cNvSpPr txBox="1"/>
          <p:nvPr/>
        </p:nvSpPr>
        <p:spPr>
          <a:xfrm>
            <a:off x="116541" y="46950"/>
            <a:ext cx="6451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BA8410-CA5A-11D5-8A09-A66280BA0FC0}"/>
              </a:ext>
            </a:extLst>
          </p:cNvPr>
          <p:cNvSpPr txBox="1"/>
          <p:nvPr/>
        </p:nvSpPr>
        <p:spPr>
          <a:xfrm>
            <a:off x="143435" y="515077"/>
            <a:ext cx="113044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project was developed using the following tools:</a:t>
            </a:r>
          </a:p>
          <a:p>
            <a:endParaRPr lang="en-US" sz="2000" dirty="0"/>
          </a:p>
          <a:p>
            <a:r>
              <a:rPr lang="en-US" sz="2000" dirty="0"/>
              <a:t>- NetBeans: used to build the Java application and design the GUI</a:t>
            </a:r>
          </a:p>
          <a:p>
            <a:r>
              <a:rPr lang="en-US" sz="2000" dirty="0"/>
              <a:t>- Java Swing: used to create forms, buttons, tables, and panels</a:t>
            </a:r>
          </a:p>
          <a:p>
            <a:r>
              <a:rPr lang="en-US" sz="2000" dirty="0"/>
              <a:t>- MySQL: used to store and organize the database</a:t>
            </a:r>
          </a:p>
          <a:p>
            <a:r>
              <a:rPr lang="en-US" sz="2000" dirty="0"/>
              <a:t>- MySQL Workbench: used to create tables, relationships, and test SQL queries</a:t>
            </a:r>
          </a:p>
          <a:p>
            <a:r>
              <a:rPr lang="en-US" sz="2000" dirty="0"/>
              <a:t>- JDBC: used to connect the Java application with the MySQL database</a:t>
            </a:r>
          </a:p>
        </p:txBody>
      </p:sp>
      <p:pic>
        <p:nvPicPr>
          <p:cNvPr id="4" name="Graphic 3" descr="Database">
            <a:extLst>
              <a:ext uri="{FF2B5EF4-FFF2-40B4-BE49-F238E27FC236}">
                <a16:creationId xmlns:a16="http://schemas.microsoft.com/office/drawing/2014/main" id="{9DD10011-3A9A-E293-004A-DC152A355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093604"/>
            <a:ext cx="1425388" cy="1425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8BDAF1-CE4B-7E0C-8BE9-B1E343D3A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3216867"/>
            <a:ext cx="1186588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5DB8F-438A-448E-AB4C-BFABEE1C9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306" y="3216865"/>
            <a:ext cx="1306300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DC53C-2E5A-CCCF-6498-6433E9960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8508" y="3216866"/>
            <a:ext cx="2687380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34BEC-4470-CD83-8DF1-534E2C1FE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0355" y="3216867"/>
            <a:ext cx="1356387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BFFD03-28BC-91BE-AC8D-B4F04C67C2C0}"/>
              </a:ext>
            </a:extLst>
          </p:cNvPr>
          <p:cNvSpPr txBox="1"/>
          <p:nvPr/>
        </p:nvSpPr>
        <p:spPr>
          <a:xfrm>
            <a:off x="4425562" y="4714545"/>
            <a:ext cx="137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NetBeans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1E8D15-E7A1-9F4A-AE6D-34DA00205514}"/>
              </a:ext>
            </a:extLst>
          </p:cNvPr>
          <p:cNvSpPr txBox="1"/>
          <p:nvPr/>
        </p:nvSpPr>
        <p:spPr>
          <a:xfrm>
            <a:off x="2399641" y="4714545"/>
            <a:ext cx="61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20DD5-5A8E-940F-DF1E-D5BAF9EE67A0}"/>
              </a:ext>
            </a:extLst>
          </p:cNvPr>
          <p:cNvSpPr txBox="1"/>
          <p:nvPr/>
        </p:nvSpPr>
        <p:spPr>
          <a:xfrm>
            <a:off x="143435" y="4714544"/>
            <a:ext cx="142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Database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05EFB9-DAE2-C752-B59A-59D994DE706E}"/>
              </a:ext>
            </a:extLst>
          </p:cNvPr>
          <p:cNvSpPr txBox="1"/>
          <p:nvPr/>
        </p:nvSpPr>
        <p:spPr>
          <a:xfrm>
            <a:off x="7566211" y="4714545"/>
            <a:ext cx="147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MySQL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B96E65-449E-4BC4-CDF7-4769A20C96D3}"/>
              </a:ext>
            </a:extLst>
          </p:cNvPr>
          <p:cNvSpPr txBox="1"/>
          <p:nvPr/>
        </p:nvSpPr>
        <p:spPr>
          <a:xfrm>
            <a:off x="10490355" y="4714545"/>
            <a:ext cx="147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Workbench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4C78E0-C159-6CCE-21DA-3D11E7A45ACD}"/>
              </a:ext>
            </a:extLst>
          </p:cNvPr>
          <p:cNvSpPr txBox="1"/>
          <p:nvPr/>
        </p:nvSpPr>
        <p:spPr>
          <a:xfrm>
            <a:off x="143435" y="13477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Tools and Technologies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24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97035B-CADA-D31D-B486-68240B5EE966}"/>
              </a:ext>
            </a:extLst>
          </p:cNvPr>
          <p:cNvSpPr txBox="1"/>
          <p:nvPr/>
        </p:nvSpPr>
        <p:spPr>
          <a:xfrm>
            <a:off x="41416" y="530802"/>
            <a:ext cx="11806519" cy="4341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supports three main user roles:</a:t>
            </a:r>
          </a:p>
          <a:p>
            <a:endParaRPr lang="en-US" dirty="0"/>
          </a:p>
          <a:p>
            <a:r>
              <a:rPr lang="en-US" dirty="0"/>
              <a:t>Manager:</a:t>
            </a:r>
          </a:p>
          <a:p>
            <a:r>
              <a:rPr lang="en-US" dirty="0"/>
              <a:t>- Manages campaigns, Hajj applicants, employees, hotels, and transport companies</a:t>
            </a:r>
          </a:p>
          <a:p>
            <a:r>
              <a:rPr lang="en-US" dirty="0"/>
              <a:t>- Has full access to the main management screens</a:t>
            </a:r>
          </a:p>
          <a:p>
            <a:endParaRPr lang="en-US" dirty="0"/>
          </a:p>
          <a:p>
            <a:r>
              <a:rPr lang="en-US" dirty="0"/>
              <a:t>Employee:</a:t>
            </a:r>
          </a:p>
          <a:p>
            <a:r>
              <a:rPr lang="en-US" dirty="0"/>
              <a:t>- Views and updates profile information</a:t>
            </a:r>
          </a:p>
          <a:p>
            <a:r>
              <a:rPr lang="en-US" dirty="0"/>
              <a:t>- Checks assigned tasks</a:t>
            </a:r>
          </a:p>
          <a:p>
            <a:r>
              <a:rPr lang="en-US" dirty="0"/>
              <a:t>- Reads and replies to messages</a:t>
            </a:r>
          </a:p>
          <a:p>
            <a:endParaRPr lang="en-US" dirty="0"/>
          </a:p>
          <a:p>
            <a:r>
              <a:rPr lang="en-US" dirty="0"/>
              <a:t>Customer:</a:t>
            </a:r>
          </a:p>
          <a:p>
            <a:r>
              <a:rPr lang="en-US" dirty="0"/>
              <a:t>- Views personal Hajj information</a:t>
            </a:r>
          </a:p>
          <a:p>
            <a:r>
              <a:rPr lang="en-US" dirty="0"/>
              <a:t>- Checks booking, hotel, and transport details</a:t>
            </a:r>
          </a:p>
          <a:p>
            <a:r>
              <a:rPr lang="en-US" dirty="0"/>
              <a:t>- Can edit limited information such as phone number and password</a:t>
            </a:r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3FFC0B71-7A4C-F708-C050-378B0F0C4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1576" y="4872318"/>
            <a:ext cx="914400" cy="914400"/>
          </a:xfrm>
          <a:prstGeom prst="rect">
            <a:avLst/>
          </a:prstGeom>
        </p:spPr>
      </p:pic>
      <p:pic>
        <p:nvPicPr>
          <p:cNvPr id="9" name="Graphic 8" descr="Office worker">
            <a:extLst>
              <a:ext uri="{FF2B5EF4-FFF2-40B4-BE49-F238E27FC236}">
                <a16:creationId xmlns:a16="http://schemas.microsoft.com/office/drawing/2014/main" id="{47CAFBA9-C49F-1EC8-3F6D-AF6BE7C9D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352" y="4872318"/>
            <a:ext cx="914400" cy="914400"/>
          </a:xfrm>
          <a:prstGeom prst="rect">
            <a:avLst/>
          </a:prstGeom>
        </p:spPr>
      </p:pic>
      <p:pic>
        <p:nvPicPr>
          <p:cNvPr id="11" name="Graphic 10" descr="User">
            <a:extLst>
              <a:ext uri="{FF2B5EF4-FFF2-40B4-BE49-F238E27FC236}">
                <a16:creationId xmlns:a16="http://schemas.microsoft.com/office/drawing/2014/main" id="{CD5157CC-F2BB-9E59-ED83-CDAC1982E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57129" y="4872318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A4BAF7-EB6B-CE56-AB3D-7CA566B2AF54}"/>
              </a:ext>
            </a:extLst>
          </p:cNvPr>
          <p:cNvSpPr txBox="1"/>
          <p:nvPr/>
        </p:nvSpPr>
        <p:spPr>
          <a:xfrm>
            <a:off x="1559858" y="57185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Manager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426BE-1ED7-B5CA-9A7B-81A64ABB7E5C}"/>
              </a:ext>
            </a:extLst>
          </p:cNvPr>
          <p:cNvSpPr txBox="1"/>
          <p:nvPr/>
        </p:nvSpPr>
        <p:spPr>
          <a:xfrm>
            <a:off x="5127812" y="57185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Employee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60C87-EEF4-07A5-9C04-A4723A93920F}"/>
              </a:ext>
            </a:extLst>
          </p:cNvPr>
          <p:cNvSpPr txBox="1"/>
          <p:nvPr/>
        </p:nvSpPr>
        <p:spPr>
          <a:xfrm>
            <a:off x="8857128" y="5718593"/>
            <a:ext cx="318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582173-45C0-D27A-147A-2615EF624085}"/>
              </a:ext>
            </a:extLst>
          </p:cNvPr>
          <p:cNvSpPr txBox="1"/>
          <p:nvPr/>
        </p:nvSpPr>
        <p:spPr>
          <a:xfrm>
            <a:off x="41416" y="44929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System Users and Roles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58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5014C-42BE-9161-6FF9-1B843B49A6FC}"/>
              </a:ext>
            </a:extLst>
          </p:cNvPr>
          <p:cNvSpPr txBox="1"/>
          <p:nvPr/>
        </p:nvSpPr>
        <p:spPr>
          <a:xfrm>
            <a:off x="224117" y="612844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uses a MySQL relational database to store and organize all project data.</a:t>
            </a:r>
          </a:p>
          <a:p>
            <a:endParaRPr lang="en-US" dirty="0"/>
          </a:p>
          <a:p>
            <a:r>
              <a:rPr lang="en-US" dirty="0"/>
              <a:t>The database is divided into several related tables, such as:</a:t>
            </a:r>
          </a:p>
          <a:p>
            <a:r>
              <a:rPr lang="en-US" dirty="0"/>
              <a:t>- users</a:t>
            </a:r>
          </a:p>
          <a:p>
            <a:r>
              <a:rPr lang="en-US" dirty="0"/>
              <a:t>- employees</a:t>
            </a:r>
          </a:p>
          <a:p>
            <a:r>
              <a:rPr lang="en-US" dirty="0"/>
              <a:t>- hajj_applicants</a:t>
            </a:r>
          </a:p>
          <a:p>
            <a:r>
              <a:rPr lang="en-US" dirty="0"/>
              <a:t>- campaigns</a:t>
            </a:r>
          </a:p>
          <a:p>
            <a:r>
              <a:rPr lang="en-US" dirty="0"/>
              <a:t>- packages</a:t>
            </a:r>
          </a:p>
          <a:p>
            <a:r>
              <a:rPr lang="en-US" dirty="0"/>
              <a:t>- bookings</a:t>
            </a:r>
          </a:p>
          <a:p>
            <a:r>
              <a:rPr lang="en-US" dirty="0"/>
              <a:t>- hotels</a:t>
            </a:r>
          </a:p>
          <a:p>
            <a:r>
              <a:rPr lang="en-US" dirty="0"/>
              <a:t>- hotel_bookings</a:t>
            </a:r>
          </a:p>
          <a:p>
            <a:r>
              <a:rPr lang="en-US" dirty="0"/>
              <a:t>- transport_companies</a:t>
            </a:r>
          </a:p>
          <a:p>
            <a:r>
              <a:rPr lang="en-US" dirty="0"/>
              <a:t>- transports</a:t>
            </a:r>
          </a:p>
          <a:p>
            <a:r>
              <a:rPr lang="en-US" dirty="0"/>
              <a:t>- employee_tasks</a:t>
            </a:r>
          </a:p>
          <a:p>
            <a:r>
              <a:rPr lang="en-US" dirty="0"/>
              <a:t>- employee_messages</a:t>
            </a:r>
          </a:p>
          <a:p>
            <a:endParaRPr lang="en-US" dirty="0"/>
          </a:p>
          <a:p>
            <a:r>
              <a:rPr lang="en-US" dirty="0"/>
              <a:t>Each table represents a specific part of the system and is connected to other tables using primary keys and foreign keys.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E075D-78E5-7881-D624-1A6A4372BAD1}"/>
              </a:ext>
            </a:extLst>
          </p:cNvPr>
          <p:cNvSpPr txBox="1"/>
          <p:nvPr/>
        </p:nvSpPr>
        <p:spPr>
          <a:xfrm>
            <a:off x="224117" y="805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Database Design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1CFA9-5AC7-F054-6BA5-AAA4E9AD7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656" y="1729231"/>
            <a:ext cx="3322320" cy="46143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77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FAF9A2-7325-0E34-144D-EE12C8D52B71}"/>
              </a:ext>
            </a:extLst>
          </p:cNvPr>
          <p:cNvSpPr txBox="1"/>
          <p:nvPr/>
        </p:nvSpPr>
        <p:spPr>
          <a:xfrm>
            <a:off x="143436" y="4114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Database 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F6BEE-F27E-59BE-4932-2A9A8A684338}"/>
              </a:ext>
            </a:extLst>
          </p:cNvPr>
          <p:cNvSpPr txBox="1"/>
          <p:nvPr/>
        </p:nvSpPr>
        <p:spPr>
          <a:xfrm>
            <a:off x="143436" y="1209852"/>
            <a:ext cx="35051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database tables are connected using Primary Keys and Foreign Keys.</a:t>
            </a:r>
          </a:p>
          <a:p>
            <a:endParaRPr lang="en-US" dirty="0"/>
          </a:p>
          <a:p>
            <a:r>
              <a:rPr lang="en-US" dirty="0"/>
              <a:t>Main relationship examples:</a:t>
            </a:r>
          </a:p>
          <a:p>
            <a:r>
              <a:rPr lang="en-US" dirty="0"/>
              <a:t>- Employees are connected with their tasks and messages.</a:t>
            </a:r>
          </a:p>
          <a:p>
            <a:r>
              <a:rPr lang="en-US" dirty="0"/>
              <a:t>- Hajj applicants are connected with bookings, hotels, and transport.</a:t>
            </a:r>
          </a:p>
          <a:p>
            <a:r>
              <a:rPr lang="en-US" dirty="0"/>
              <a:t>- Bookings are connected with Hajj packages.</a:t>
            </a:r>
          </a:p>
          <a:p>
            <a:r>
              <a:rPr lang="en-US" dirty="0"/>
              <a:t>- Hotels and transports are connected with customer services.</a:t>
            </a:r>
          </a:p>
          <a:p>
            <a:endParaRPr lang="en-US" dirty="0"/>
          </a:p>
          <a:p>
            <a:r>
              <a:rPr lang="en-US" dirty="0"/>
              <a:t>These relationships help reduce data duplication and keep the database organized.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3B90E8-EFC0-57F9-F26A-B05EB658B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126" y="411487"/>
            <a:ext cx="6522085" cy="62853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496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34CC7-8F4A-8FBB-25E6-C5767AADEB58}"/>
              </a:ext>
            </a:extLst>
          </p:cNvPr>
          <p:cNvSpPr txBox="1"/>
          <p:nvPr/>
        </p:nvSpPr>
        <p:spPr>
          <a:xfrm>
            <a:off x="170330" y="3756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CRUD Operations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FF7A8-62FA-9AB4-3BDD-ECB46D1D8FF9}"/>
              </a:ext>
            </a:extLst>
          </p:cNvPr>
          <p:cNvSpPr txBox="1"/>
          <p:nvPr/>
        </p:nvSpPr>
        <p:spPr>
          <a:xfrm>
            <a:off x="170329" y="1152942"/>
            <a:ext cx="116989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supports the four main database operations:</a:t>
            </a:r>
          </a:p>
          <a:p>
            <a:endParaRPr lang="en-US" dirty="0"/>
          </a:p>
          <a:p>
            <a:r>
              <a:rPr lang="en-US" dirty="0"/>
              <a:t>Create:</a:t>
            </a:r>
          </a:p>
          <a:p>
            <a:r>
              <a:rPr lang="en-US" dirty="0"/>
              <a:t>- Add new records such as employees, campaigns, hotels, and transport companies.</a:t>
            </a:r>
          </a:p>
          <a:p>
            <a:endParaRPr lang="en-US" dirty="0"/>
          </a:p>
          <a:p>
            <a:r>
              <a:rPr lang="en-US" dirty="0"/>
              <a:t>Read:</a:t>
            </a:r>
          </a:p>
          <a:p>
            <a:r>
              <a:rPr lang="en-US" dirty="0"/>
              <a:t>- Display database records inside tables in the GUI.</a:t>
            </a:r>
          </a:p>
          <a:p>
            <a:endParaRPr lang="en-US" dirty="0"/>
          </a:p>
          <a:p>
            <a:r>
              <a:rPr lang="en-US" dirty="0"/>
              <a:t>Update:</a:t>
            </a:r>
          </a:p>
          <a:p>
            <a:r>
              <a:rPr lang="en-US" dirty="0"/>
              <a:t>- Modify existing records such as employee data or applicant status.</a:t>
            </a:r>
          </a:p>
          <a:p>
            <a:endParaRPr lang="en-US" dirty="0"/>
          </a:p>
          <a:p>
            <a:r>
              <a:rPr lang="en-US" dirty="0"/>
              <a:t>Delete:</a:t>
            </a:r>
          </a:p>
          <a:p>
            <a:r>
              <a:rPr lang="en-US" dirty="0"/>
              <a:t>- Remove records when needed from management screens.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C3BCE-7870-1EBB-BA75-52048F156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90" y="5596274"/>
            <a:ext cx="4963218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7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8B717-1792-FA74-6B71-3FCDF0C81CA3}"/>
              </a:ext>
            </a:extLst>
          </p:cNvPr>
          <p:cNvSpPr txBox="1"/>
          <p:nvPr/>
        </p:nvSpPr>
        <p:spPr>
          <a:xfrm>
            <a:off x="152400" y="321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Java and Database Connection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E92E6-A2AD-5B63-950B-7FD733CBFACF}"/>
              </a:ext>
            </a:extLst>
          </p:cNvPr>
          <p:cNvSpPr txBox="1"/>
          <p:nvPr/>
        </p:nvSpPr>
        <p:spPr>
          <a:xfrm>
            <a:off x="152400" y="1058359"/>
            <a:ext cx="116361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Java application is connected to the MySQL database using JDBC.</a:t>
            </a:r>
          </a:p>
          <a:p>
            <a:endParaRPr lang="en-US" dirty="0"/>
          </a:p>
          <a:p>
            <a:r>
              <a:rPr lang="en-US" dirty="0"/>
              <a:t>The connection is handled in DBConnection.java.</a:t>
            </a:r>
          </a:p>
          <a:p>
            <a:endParaRPr lang="en-US" dirty="0"/>
          </a:p>
          <a:p>
            <a:r>
              <a:rPr lang="en-US" dirty="0"/>
              <a:t>The system uses:</a:t>
            </a:r>
          </a:p>
          <a:p>
            <a:r>
              <a:rPr lang="en-US" dirty="0"/>
              <a:t>- Connection: to connect Java with MySQL</a:t>
            </a:r>
          </a:p>
          <a:p>
            <a:r>
              <a:rPr lang="en-US" dirty="0"/>
              <a:t>- PreparedStatement: to execute SQL queries safely</a:t>
            </a:r>
          </a:p>
          <a:p>
            <a:r>
              <a:rPr lang="en-US" dirty="0"/>
              <a:t>- ResultSet: to retrieve data from SELECT queries</a:t>
            </a:r>
          </a:p>
          <a:p>
            <a:r>
              <a:rPr lang="en-US" dirty="0"/>
              <a:t>- JTable: to display database records in the GUI</a:t>
            </a:r>
          </a:p>
          <a:p>
            <a:endParaRPr lang="en-US" dirty="0"/>
          </a:p>
          <a:p>
            <a:r>
              <a:rPr lang="en-US" dirty="0"/>
              <a:t>General flow:</a:t>
            </a:r>
          </a:p>
          <a:p>
            <a:r>
              <a:rPr lang="en-US" dirty="0"/>
              <a:t>Button Click → SQL Query → MySQL Database → GUI Display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81226-D3B7-86EB-D99A-1DD6D483D459}"/>
              </a:ext>
            </a:extLst>
          </p:cNvPr>
          <p:cNvSpPr txBox="1"/>
          <p:nvPr/>
        </p:nvSpPr>
        <p:spPr>
          <a:xfrm>
            <a:off x="152400" y="56149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 GUI  →  JDBC  →  MySQL Database</a:t>
            </a:r>
          </a:p>
        </p:txBody>
      </p:sp>
    </p:spTree>
    <p:extLst>
      <p:ext uri="{BB962C8B-B14F-4D97-AF65-F5344CB8AC3E}">
        <p14:creationId xmlns:p14="http://schemas.microsoft.com/office/powerpoint/2010/main" val="3839701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7673F-4446-0C44-8E1A-B1D67570114B}"/>
              </a:ext>
            </a:extLst>
          </p:cNvPr>
          <p:cNvSpPr txBox="1"/>
          <p:nvPr/>
        </p:nvSpPr>
        <p:spPr>
          <a:xfrm>
            <a:off x="179294" y="2859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Main System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C5AB4-E2C2-80B9-AB64-1F9C6E068138}"/>
              </a:ext>
            </a:extLst>
          </p:cNvPr>
          <p:cNvSpPr txBox="1"/>
          <p:nvPr/>
        </p:nvSpPr>
        <p:spPr>
          <a:xfrm>
            <a:off x="179294" y="93194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contains different interfaces based on the user role.</a:t>
            </a:r>
          </a:p>
          <a:p>
            <a:endParaRPr lang="en-US" dirty="0"/>
          </a:p>
          <a:p>
            <a:r>
              <a:rPr lang="en-US" dirty="0"/>
              <a:t>Manager Dashboard:</a:t>
            </a:r>
          </a:p>
          <a:p>
            <a:r>
              <a:rPr lang="en-US" dirty="0"/>
              <a:t>- Manage campaigns, Hajj applicants, employees, hotels, and transport companies.</a:t>
            </a:r>
          </a:p>
          <a:p>
            <a:endParaRPr lang="en-US" dirty="0"/>
          </a:p>
          <a:p>
            <a:r>
              <a:rPr lang="en-US" dirty="0"/>
              <a:t>Employee Dashboard:</a:t>
            </a:r>
          </a:p>
          <a:p>
            <a:r>
              <a:rPr lang="en-US" dirty="0"/>
              <a:t>- View profile information, assigned tasks, and messages.</a:t>
            </a:r>
          </a:p>
          <a:p>
            <a:endParaRPr lang="en-US" dirty="0"/>
          </a:p>
          <a:p>
            <a:r>
              <a:rPr lang="en-US" dirty="0"/>
              <a:t>Customer Dashboard:</a:t>
            </a:r>
          </a:p>
          <a:p>
            <a:r>
              <a:rPr lang="en-US" dirty="0"/>
              <a:t>- View profile, booking, hotel, and transport information.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2E01C-270B-56CC-29D6-D627303C6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808" y="4624899"/>
            <a:ext cx="1943371" cy="1810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9BA380-D4BC-322A-C8CC-527F565FA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683" y="4624899"/>
            <a:ext cx="2037924" cy="17857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F20619-BBBD-2618-E9A5-9C8696CCE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812" y="4624899"/>
            <a:ext cx="2185312" cy="1771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0281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5A32D4-5560-50DA-8941-4D68441D0126}"/>
              </a:ext>
            </a:extLst>
          </p:cNvPr>
          <p:cNvSpPr txBox="1"/>
          <p:nvPr/>
        </p:nvSpPr>
        <p:spPr>
          <a:xfrm>
            <a:off x="152400" y="6624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Testing and Sample Data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9DBFA-37D6-65A0-7D81-48DA7A5412CE}"/>
              </a:ext>
            </a:extLst>
          </p:cNvPr>
          <p:cNvSpPr txBox="1"/>
          <p:nvPr/>
        </p:nvSpPr>
        <p:spPr>
          <a:xfrm>
            <a:off x="152400" y="1779565"/>
            <a:ext cx="109010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was tested using sample data stored in the MySQL database.</a:t>
            </a:r>
          </a:p>
          <a:p>
            <a:endParaRPr lang="en-US" dirty="0"/>
          </a:p>
          <a:p>
            <a:r>
              <a:rPr lang="en-US" dirty="0"/>
              <a:t>Examples of tested data:</a:t>
            </a:r>
          </a:p>
          <a:p>
            <a:r>
              <a:rPr lang="en-US" dirty="0"/>
              <a:t>- Users for login roles</a:t>
            </a:r>
          </a:p>
          <a:p>
            <a:r>
              <a:rPr lang="en-US" dirty="0"/>
              <a:t>- Employees and assigned tasks</a:t>
            </a:r>
          </a:p>
          <a:p>
            <a:r>
              <a:rPr lang="en-US" dirty="0"/>
              <a:t>- Hajj applicants and their application status</a:t>
            </a:r>
          </a:p>
          <a:p>
            <a:r>
              <a:rPr lang="en-US" dirty="0"/>
              <a:t>- Bookings connected with packages</a:t>
            </a:r>
          </a:p>
          <a:p>
            <a:r>
              <a:rPr lang="en-US" dirty="0"/>
              <a:t>- Hotel and transport records</a:t>
            </a:r>
          </a:p>
          <a:p>
            <a:r>
              <a:rPr lang="en-US" dirty="0"/>
              <a:t>- Internal messages between manager and employees</a:t>
            </a:r>
          </a:p>
          <a:p>
            <a:endParaRPr lang="en-US" dirty="0"/>
          </a:p>
          <a:p>
            <a:r>
              <a:rPr lang="en-US" dirty="0"/>
              <a:t>Testing confirmed that the GUI is connected correctly with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649395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AF09C3-48DB-F617-C741-318B343D55CB}"/>
              </a:ext>
            </a:extLst>
          </p:cNvPr>
          <p:cNvSpPr txBox="1"/>
          <p:nvPr/>
        </p:nvSpPr>
        <p:spPr>
          <a:xfrm>
            <a:off x="206187" y="1501658"/>
            <a:ext cx="112417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files can be accessed using the following links:</a:t>
            </a:r>
          </a:p>
          <a:p>
            <a:endParaRPr lang="en-US" dirty="0"/>
          </a:p>
          <a:p>
            <a:r>
              <a:rPr lang="en-US" dirty="0"/>
              <a:t>Source Code:</a:t>
            </a:r>
          </a:p>
          <a:p>
            <a:r>
              <a:rPr lang="en-US" dirty="0">
                <a:hlinkClick r:id="rId2"/>
              </a:rPr>
              <a:t>https://github.com/HibaMeneh/HajiiCompanySystem</a:t>
            </a:r>
            <a:endParaRPr lang="ar-SA" dirty="0"/>
          </a:p>
          <a:p>
            <a:endParaRPr lang="en-US" dirty="0"/>
          </a:p>
          <a:p>
            <a:r>
              <a:rPr lang="en-US" dirty="0"/>
              <a:t>Database SQL File:</a:t>
            </a:r>
          </a:p>
          <a:p>
            <a:r>
              <a:rPr lang="en-US" dirty="0">
                <a:hlinkClick r:id="rId3"/>
              </a:rPr>
              <a:t>https://drive.google.com/drive/folders/1SfC1LHnourozUQZdVeOvd1eFaKZ-j73z?hl=ar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Project Report:</a:t>
            </a:r>
          </a:p>
          <a:p>
            <a:r>
              <a:rPr lang="en-US" dirty="0">
                <a:hlinkClick r:id="rId4"/>
              </a:rPr>
              <a:t>https://drive.google.com/drive/folders/18duxPOWe-xY3yPafysyipHD4weGxBhdY?hl=ar</a:t>
            </a:r>
            <a:endParaRPr lang="en-US" dirty="0"/>
          </a:p>
          <a:p>
            <a:endParaRPr lang="en-US" dirty="0"/>
          </a:p>
          <a:p>
            <a:r>
              <a:rPr lang="en-US" dirty="0"/>
              <a:t>ERD and Normalization Document:</a:t>
            </a:r>
          </a:p>
          <a:p>
            <a:r>
              <a:rPr lang="en-US" dirty="0">
                <a:hlinkClick r:id="rId5"/>
              </a:rPr>
              <a:t>https://drive.google.com/drive/folders/1ctKbE_jBrty-wuRPUunhvnDcrDKsRlEY?hl=ar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F0FD7-0F89-8A91-8A24-C4AA4BB64EEA}"/>
              </a:ext>
            </a:extLst>
          </p:cNvPr>
          <p:cNvSpPr txBox="1"/>
          <p:nvPr/>
        </p:nvSpPr>
        <p:spPr>
          <a:xfrm>
            <a:off x="206188" y="7431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49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1">
      <a:dk1>
        <a:srgbClr val="000000"/>
      </a:dk1>
      <a:lt1>
        <a:srgbClr val="FFFFFF"/>
      </a:lt1>
      <a:dk2>
        <a:srgbClr val="1C1C1C"/>
      </a:dk2>
      <a:lt2>
        <a:srgbClr val="F5E6B3"/>
      </a:lt2>
      <a:accent1>
        <a:srgbClr val="D4AF37"/>
      </a:accent1>
      <a:accent2>
        <a:srgbClr val="FFD700"/>
      </a:accent2>
      <a:accent3>
        <a:srgbClr val="B8860B"/>
      </a:accent3>
      <a:accent4>
        <a:srgbClr val="8A7A4F"/>
      </a:accent4>
      <a:accent5>
        <a:srgbClr val="8B5E3C"/>
      </a:accent5>
      <a:accent6>
        <a:srgbClr val="C0C0C0"/>
      </a:accent6>
      <a:hlink>
        <a:srgbClr val="FFD700"/>
      </a:hlink>
      <a:folHlink>
        <a:srgbClr val="E6C87A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59</TotalTime>
  <Words>970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جابر</dc:creator>
  <cp:lastModifiedBy>محمد جابر</cp:lastModifiedBy>
  <cp:revision>1</cp:revision>
  <dcterms:created xsi:type="dcterms:W3CDTF">2026-05-14T13:28:25Z</dcterms:created>
  <dcterms:modified xsi:type="dcterms:W3CDTF">2026-05-14T14:27:59Z</dcterms:modified>
</cp:coreProperties>
</file>